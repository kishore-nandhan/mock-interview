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DM Serif Display" pitchFamily="2" charset="0"/>
      <p:regular r:id="rId13"/>
    </p:embeddedFont>
    <p:embeddedFont>
      <p:font typeface="Open Sauce" panose="020B0604020202020204" charset="0"/>
      <p:regular r:id="rId14"/>
    </p:embeddedFont>
    <p:embeddedFont>
      <p:font typeface="Open Sauce Bold" panose="020B0604020202020204" charset="0"/>
      <p:regular r:id="rId15"/>
    </p:embeddedFont>
    <p:embeddedFont>
      <p:font typeface="Times New Roman Bold" panose="02020803070505020304" pitchFamily="18" charset="0"/>
      <p:regular r:id="rId16"/>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svg"/></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Freeform 3"/>
          <p:cNvSpPr/>
          <p:nvPr/>
        </p:nvSpPr>
        <p:spPr>
          <a:xfrm>
            <a:off x="2051443" y="1028700"/>
            <a:ext cx="14185114" cy="1542631"/>
          </a:xfrm>
          <a:custGeom>
            <a:avLst/>
            <a:gdLst/>
            <a:ahLst/>
            <a:cxnLst/>
            <a:rect l="l" t="t" r="r" b="b"/>
            <a:pathLst>
              <a:path w="14185114" h="1542631">
                <a:moveTo>
                  <a:pt x="0" y="0"/>
                </a:moveTo>
                <a:lnTo>
                  <a:pt x="14185114" y="0"/>
                </a:lnTo>
                <a:lnTo>
                  <a:pt x="14185114" y="1542631"/>
                </a:lnTo>
                <a:lnTo>
                  <a:pt x="0" y="1542631"/>
                </a:lnTo>
                <a:lnTo>
                  <a:pt x="0" y="0"/>
                </a:lnTo>
                <a:close/>
              </a:path>
            </a:pathLst>
          </a:custGeom>
          <a:blipFill>
            <a:blip r:embed="rId3"/>
            <a:stretch>
              <a:fillRect/>
            </a:stretch>
          </a:blipFill>
        </p:spPr>
      </p:sp>
      <p:sp>
        <p:nvSpPr>
          <p:cNvPr id="4" name="TextBox 4"/>
          <p:cNvSpPr txBox="1"/>
          <p:nvPr/>
        </p:nvSpPr>
        <p:spPr>
          <a:xfrm>
            <a:off x="2857215" y="3413811"/>
            <a:ext cx="12573570" cy="2228850"/>
          </a:xfrm>
          <a:prstGeom prst="rect">
            <a:avLst/>
          </a:prstGeom>
        </p:spPr>
        <p:txBody>
          <a:bodyPr lIns="0" tIns="0" rIns="0" bIns="0" rtlCol="0" anchor="t">
            <a:spAutoFit/>
          </a:bodyPr>
          <a:lstStyle/>
          <a:p>
            <a:pPr algn="ctr">
              <a:lnSpc>
                <a:spcPts val="5400"/>
              </a:lnSpc>
            </a:pPr>
            <a:r>
              <a:rPr lang="en-US" sz="4500" b="1" spc="135" dirty="0">
                <a:solidFill>
                  <a:srgbClr val="000000"/>
                </a:solidFill>
                <a:latin typeface="Times New Roman Bold"/>
                <a:ea typeface="Times New Roman Bold"/>
                <a:cs typeface="Times New Roman Bold"/>
                <a:sym typeface="Times New Roman Bold"/>
              </a:rPr>
              <a:t>AI-POWERED COMPANY-SPECIFIC INTERVIEW &amp; ASSESSMENT</a:t>
            </a:r>
          </a:p>
          <a:p>
            <a:pPr marL="0" lvl="0" indent="0" algn="ctr">
              <a:lnSpc>
                <a:spcPts val="6000"/>
              </a:lnSpc>
              <a:spcBef>
                <a:spcPct val="0"/>
              </a:spcBef>
            </a:pPr>
            <a:r>
              <a:rPr lang="en-US" sz="5000" b="1" spc="150" dirty="0">
                <a:solidFill>
                  <a:srgbClr val="000000"/>
                </a:solidFill>
                <a:latin typeface="Times New Roman Bold"/>
                <a:ea typeface="Times New Roman Bold"/>
                <a:cs typeface="Times New Roman Bold"/>
                <a:sym typeface="Times New Roman Bold"/>
              </a:rPr>
              <a:t>Simulator</a:t>
            </a:r>
          </a:p>
        </p:txBody>
      </p:sp>
      <p:sp>
        <p:nvSpPr>
          <p:cNvPr id="5" name="TextBox 5"/>
          <p:cNvSpPr txBox="1"/>
          <p:nvPr/>
        </p:nvSpPr>
        <p:spPr>
          <a:xfrm>
            <a:off x="734675" y="7246672"/>
            <a:ext cx="6695134" cy="1581150"/>
          </a:xfrm>
          <a:prstGeom prst="rect">
            <a:avLst/>
          </a:prstGeom>
        </p:spPr>
        <p:txBody>
          <a:bodyPr lIns="0" tIns="0" rIns="0" bIns="0" rtlCol="0" anchor="t">
            <a:spAutoFit/>
          </a:bodyPr>
          <a:lstStyle/>
          <a:p>
            <a:pPr algn="l">
              <a:lnSpc>
                <a:spcPts val="3000"/>
              </a:lnSpc>
              <a:spcBef>
                <a:spcPct val="0"/>
              </a:spcBef>
            </a:pPr>
            <a:r>
              <a:rPr lang="en-US" sz="2500" b="1" spc="25">
                <a:solidFill>
                  <a:srgbClr val="000000"/>
                </a:solidFill>
                <a:latin typeface="Times New Roman Bold"/>
                <a:ea typeface="Times New Roman Bold"/>
                <a:cs typeface="Times New Roman Bold"/>
                <a:sym typeface="Times New Roman Bold"/>
              </a:rPr>
              <a:t>BATCH NUMBER : 11</a:t>
            </a:r>
          </a:p>
          <a:p>
            <a:pPr algn="l">
              <a:lnSpc>
                <a:spcPts val="3000"/>
              </a:lnSpc>
              <a:spcBef>
                <a:spcPct val="0"/>
              </a:spcBef>
            </a:pPr>
            <a:r>
              <a:rPr lang="en-US" sz="2500" spc="25">
                <a:solidFill>
                  <a:srgbClr val="000000"/>
                </a:solidFill>
                <a:latin typeface="Times New Roman"/>
                <a:ea typeface="Times New Roman"/>
                <a:cs typeface="Times New Roman"/>
                <a:sym typeface="Times New Roman"/>
              </a:rPr>
              <a:t>J. KISHORE NANDHAN (22761A0588)</a:t>
            </a:r>
          </a:p>
          <a:p>
            <a:pPr algn="l">
              <a:lnSpc>
                <a:spcPts val="3000"/>
              </a:lnSpc>
              <a:spcBef>
                <a:spcPct val="0"/>
              </a:spcBef>
            </a:pPr>
            <a:r>
              <a:rPr lang="en-US" sz="2500" spc="25">
                <a:solidFill>
                  <a:srgbClr val="000000"/>
                </a:solidFill>
                <a:latin typeface="Times New Roman"/>
                <a:ea typeface="Times New Roman"/>
                <a:cs typeface="Times New Roman"/>
                <a:sym typeface="Times New Roman"/>
              </a:rPr>
              <a:t>SD. YASEEN ALI (22761A05B4)</a:t>
            </a:r>
          </a:p>
          <a:p>
            <a:pPr algn="l">
              <a:lnSpc>
                <a:spcPts val="3000"/>
              </a:lnSpc>
              <a:spcBef>
                <a:spcPct val="0"/>
              </a:spcBef>
            </a:pPr>
            <a:r>
              <a:rPr lang="en-US" sz="2500" spc="25">
                <a:solidFill>
                  <a:srgbClr val="000000"/>
                </a:solidFill>
                <a:latin typeface="Times New Roman"/>
                <a:ea typeface="Times New Roman"/>
                <a:cs typeface="Times New Roman"/>
                <a:sym typeface="Times New Roman"/>
              </a:rPr>
              <a:t>M. SREENIVASULU REDDY (22761A0598)</a:t>
            </a:r>
          </a:p>
        </p:txBody>
      </p:sp>
      <p:sp>
        <p:nvSpPr>
          <p:cNvPr id="6" name="TextBox 6"/>
          <p:cNvSpPr txBox="1"/>
          <p:nvPr/>
        </p:nvSpPr>
        <p:spPr>
          <a:xfrm>
            <a:off x="12572676" y="7246672"/>
            <a:ext cx="3897562" cy="1200150"/>
          </a:xfrm>
          <a:prstGeom prst="rect">
            <a:avLst/>
          </a:prstGeom>
        </p:spPr>
        <p:txBody>
          <a:bodyPr lIns="0" tIns="0" rIns="0" bIns="0" rtlCol="0" anchor="t">
            <a:spAutoFit/>
          </a:bodyPr>
          <a:lstStyle/>
          <a:p>
            <a:pPr algn="l">
              <a:lnSpc>
                <a:spcPts val="3000"/>
              </a:lnSpc>
            </a:pPr>
            <a:r>
              <a:rPr lang="en-US" sz="2500" b="1" spc="25">
                <a:solidFill>
                  <a:srgbClr val="000000"/>
                </a:solidFill>
                <a:latin typeface="Times New Roman Bold"/>
                <a:ea typeface="Times New Roman Bold"/>
                <a:cs typeface="Times New Roman Bold"/>
                <a:sym typeface="Times New Roman Bold"/>
              </a:rPr>
              <a:t>PROJECT GUIDE</a:t>
            </a:r>
          </a:p>
          <a:p>
            <a:pPr marL="0" lvl="0" indent="0" algn="l">
              <a:lnSpc>
                <a:spcPts val="3000"/>
              </a:lnSpc>
              <a:spcBef>
                <a:spcPct val="0"/>
              </a:spcBef>
            </a:pPr>
            <a:r>
              <a:rPr lang="en-US" sz="2500" spc="25">
                <a:solidFill>
                  <a:srgbClr val="000000"/>
                </a:solidFill>
                <a:latin typeface="Times New Roman"/>
                <a:ea typeface="Times New Roman"/>
                <a:cs typeface="Times New Roman"/>
                <a:sym typeface="Times New Roman"/>
              </a:rPr>
              <a:t>MS. T. VINEETHA</a:t>
            </a:r>
          </a:p>
          <a:p>
            <a:pPr marL="0" lvl="0" indent="0" algn="l">
              <a:lnSpc>
                <a:spcPts val="3000"/>
              </a:lnSpc>
              <a:spcBef>
                <a:spcPct val="0"/>
              </a:spcBef>
            </a:pPr>
            <a:r>
              <a:rPr lang="en-US" sz="2500" u="none" strike="noStrike" spc="25">
                <a:solidFill>
                  <a:srgbClr val="000000"/>
                </a:solidFill>
                <a:latin typeface="Times New Roman"/>
                <a:ea typeface="Times New Roman"/>
                <a:cs typeface="Times New Roman"/>
                <a:sym typeface="Times New Roman"/>
              </a:rPr>
              <a:t>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grpSp>
        <p:nvGrpSpPr>
          <p:cNvPr id="3" name="Group 3"/>
          <p:cNvGrpSpPr/>
          <p:nvPr/>
        </p:nvGrpSpPr>
        <p:grpSpPr>
          <a:xfrm>
            <a:off x="1166399" y="2696023"/>
            <a:ext cx="3574525" cy="727669"/>
            <a:chOff x="0" y="0"/>
            <a:chExt cx="4766034" cy="970226"/>
          </a:xfrm>
        </p:grpSpPr>
        <p:grpSp>
          <p:nvGrpSpPr>
            <p:cNvPr id="4" name="Group 4"/>
            <p:cNvGrpSpPr/>
            <p:nvPr/>
          </p:nvGrpSpPr>
          <p:grpSpPr>
            <a:xfrm>
              <a:off x="0" y="0"/>
              <a:ext cx="868101" cy="86810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sp>
          <p:sp>
            <p:nvSpPr>
              <p:cNvPr id="6" name="TextBox 6"/>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26156" y="126001"/>
              <a:ext cx="779441" cy="548549"/>
            </a:xfrm>
            <a:prstGeom prst="rect">
              <a:avLst/>
            </a:prstGeom>
          </p:spPr>
          <p:txBody>
            <a:bodyPr lIns="0" tIns="0" rIns="0" bIns="0" rtlCol="0" anchor="t">
              <a:spAutoFit/>
            </a:bodyPr>
            <a:lstStyle/>
            <a:p>
              <a:pPr marL="0" lvl="0" indent="0" algn="ctr">
                <a:lnSpc>
                  <a:spcPts val="3663"/>
                </a:lnSpc>
              </a:pPr>
              <a:r>
                <a:rPr lang="en-US" sz="2289" b="1">
                  <a:solidFill>
                    <a:srgbClr val="000000"/>
                  </a:solidFill>
                  <a:latin typeface="Open Sauce Bold"/>
                  <a:ea typeface="Open Sauce Bold"/>
                  <a:cs typeface="Open Sauce Bold"/>
                  <a:sym typeface="Open Sauce Bold"/>
                </a:rPr>
                <a:t>1</a:t>
              </a:r>
            </a:p>
          </p:txBody>
        </p:sp>
        <p:sp>
          <p:nvSpPr>
            <p:cNvPr id="8" name="TextBox 8"/>
            <p:cNvSpPr txBox="1"/>
            <p:nvPr/>
          </p:nvSpPr>
          <p:spPr>
            <a:xfrm>
              <a:off x="1058986" y="-200025"/>
              <a:ext cx="3707048" cy="1170251"/>
            </a:xfrm>
            <a:prstGeom prst="rect">
              <a:avLst/>
            </a:prstGeom>
          </p:spPr>
          <p:txBody>
            <a:bodyPr lIns="0" tIns="0" rIns="0" bIns="0" rtlCol="0" anchor="t">
              <a:spAutoFit/>
            </a:bodyPr>
            <a:lstStyle/>
            <a:p>
              <a:pPr algn="ctr">
                <a:lnSpc>
                  <a:spcPts val="6826"/>
                </a:lnSpc>
                <a:spcBef>
                  <a:spcPct val="0"/>
                </a:spcBef>
              </a:pPr>
              <a:r>
                <a:rPr lang="en-US" sz="4876" spc="487">
                  <a:solidFill>
                    <a:srgbClr val="000000"/>
                  </a:solidFill>
                  <a:latin typeface="Times New Roman"/>
                  <a:ea typeface="Times New Roman"/>
                  <a:cs typeface="Times New Roman"/>
                  <a:sym typeface="Times New Roman"/>
                </a:rPr>
                <a:t>Abstract</a:t>
              </a:r>
            </a:p>
          </p:txBody>
        </p:sp>
      </p:grpSp>
      <p:grpSp>
        <p:nvGrpSpPr>
          <p:cNvPr id="9" name="Group 9"/>
          <p:cNvGrpSpPr/>
          <p:nvPr/>
        </p:nvGrpSpPr>
        <p:grpSpPr>
          <a:xfrm>
            <a:off x="1166399" y="3669111"/>
            <a:ext cx="4895119" cy="727669"/>
            <a:chOff x="0" y="0"/>
            <a:chExt cx="6526825" cy="970226"/>
          </a:xfrm>
        </p:grpSpPr>
        <p:grpSp>
          <p:nvGrpSpPr>
            <p:cNvPr id="10" name="Group 10"/>
            <p:cNvGrpSpPr/>
            <p:nvPr/>
          </p:nvGrpSpPr>
          <p:grpSpPr>
            <a:xfrm>
              <a:off x="0" y="0"/>
              <a:ext cx="868101" cy="86810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sp>
          <p:sp>
            <p:nvSpPr>
              <p:cNvPr id="12" name="TextBox 12"/>
              <p:cNvSpPr txBox="1"/>
              <p:nvPr/>
            </p:nvSpPr>
            <p:spPr>
              <a:xfrm>
                <a:off x="76200" y="28575"/>
                <a:ext cx="660400" cy="708025"/>
              </a:xfrm>
              <a:prstGeom prst="rect">
                <a:avLst/>
              </a:prstGeom>
            </p:spPr>
            <p:txBody>
              <a:bodyPr lIns="36347" tIns="36347" rIns="36347" bIns="36347" rtlCol="0" anchor="ctr"/>
              <a:lstStyle/>
              <a:p>
                <a:pPr algn="ctr">
                  <a:lnSpc>
                    <a:spcPts val="3359"/>
                  </a:lnSpc>
                </a:pPr>
                <a:endParaRPr/>
              </a:p>
            </p:txBody>
          </p:sp>
        </p:grpSp>
        <p:sp>
          <p:nvSpPr>
            <p:cNvPr id="13" name="TextBox 13"/>
            <p:cNvSpPr txBox="1"/>
            <p:nvPr/>
          </p:nvSpPr>
          <p:spPr>
            <a:xfrm>
              <a:off x="44330" y="116914"/>
              <a:ext cx="779441" cy="548549"/>
            </a:xfrm>
            <a:prstGeom prst="rect">
              <a:avLst/>
            </a:prstGeom>
          </p:spPr>
          <p:txBody>
            <a:bodyPr lIns="0" tIns="0" rIns="0" bIns="0" rtlCol="0" anchor="t">
              <a:spAutoFit/>
            </a:bodyPr>
            <a:lstStyle/>
            <a:p>
              <a:pPr marL="0" lvl="0" indent="0" algn="ctr">
                <a:lnSpc>
                  <a:spcPts val="3663"/>
                </a:lnSpc>
              </a:pPr>
              <a:r>
                <a:rPr lang="en-US" sz="2289" b="1">
                  <a:solidFill>
                    <a:srgbClr val="000000"/>
                  </a:solidFill>
                  <a:latin typeface="Open Sauce Bold"/>
                  <a:ea typeface="Open Sauce Bold"/>
                  <a:cs typeface="Open Sauce Bold"/>
                  <a:sym typeface="Open Sauce Bold"/>
                </a:rPr>
                <a:t>2</a:t>
              </a:r>
            </a:p>
          </p:txBody>
        </p:sp>
        <p:sp>
          <p:nvSpPr>
            <p:cNvPr id="14" name="TextBox 14"/>
            <p:cNvSpPr txBox="1"/>
            <p:nvPr/>
          </p:nvSpPr>
          <p:spPr>
            <a:xfrm>
              <a:off x="1058986" y="-200025"/>
              <a:ext cx="5467839" cy="1170251"/>
            </a:xfrm>
            <a:prstGeom prst="rect">
              <a:avLst/>
            </a:prstGeom>
          </p:spPr>
          <p:txBody>
            <a:bodyPr lIns="0" tIns="0" rIns="0" bIns="0" rtlCol="0" anchor="t">
              <a:spAutoFit/>
            </a:bodyPr>
            <a:lstStyle/>
            <a:p>
              <a:pPr algn="ctr">
                <a:lnSpc>
                  <a:spcPts val="6826"/>
                </a:lnSpc>
                <a:spcBef>
                  <a:spcPct val="0"/>
                </a:spcBef>
              </a:pPr>
              <a:r>
                <a:rPr lang="en-US" sz="4876" spc="487">
                  <a:solidFill>
                    <a:srgbClr val="000000"/>
                  </a:solidFill>
                  <a:latin typeface="Times New Roman"/>
                  <a:ea typeface="Times New Roman"/>
                  <a:cs typeface="Times New Roman"/>
                  <a:sym typeface="Times New Roman"/>
                </a:rPr>
                <a:t>Introduction</a:t>
              </a:r>
            </a:p>
          </p:txBody>
        </p:sp>
      </p:grpSp>
      <p:grpSp>
        <p:nvGrpSpPr>
          <p:cNvPr id="15" name="Group 15"/>
          <p:cNvGrpSpPr/>
          <p:nvPr/>
        </p:nvGrpSpPr>
        <p:grpSpPr>
          <a:xfrm>
            <a:off x="1166399" y="4492424"/>
            <a:ext cx="6438754" cy="765376"/>
            <a:chOff x="0" y="0"/>
            <a:chExt cx="8585006" cy="1020501"/>
          </a:xfrm>
        </p:grpSpPr>
        <p:grpSp>
          <p:nvGrpSpPr>
            <p:cNvPr id="16" name="Group 16"/>
            <p:cNvGrpSpPr/>
            <p:nvPr/>
          </p:nvGrpSpPr>
          <p:grpSpPr>
            <a:xfrm>
              <a:off x="0" y="0"/>
              <a:ext cx="868101" cy="86810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9" name="TextBox 19"/>
            <p:cNvSpPr txBox="1"/>
            <p:nvPr/>
          </p:nvSpPr>
          <p:spPr>
            <a:xfrm>
              <a:off x="26156" y="126001"/>
              <a:ext cx="779441" cy="548549"/>
            </a:xfrm>
            <a:prstGeom prst="rect">
              <a:avLst/>
            </a:prstGeom>
          </p:spPr>
          <p:txBody>
            <a:bodyPr lIns="0" tIns="0" rIns="0" bIns="0" rtlCol="0" anchor="t">
              <a:spAutoFit/>
            </a:bodyPr>
            <a:lstStyle/>
            <a:p>
              <a:pPr marL="0" lvl="0" indent="0" algn="ctr">
                <a:lnSpc>
                  <a:spcPts val="3663"/>
                </a:lnSpc>
              </a:pPr>
              <a:r>
                <a:rPr lang="en-US" sz="2289" b="1">
                  <a:solidFill>
                    <a:srgbClr val="000000"/>
                  </a:solidFill>
                  <a:latin typeface="Open Sauce Bold"/>
                  <a:ea typeface="Open Sauce Bold"/>
                  <a:cs typeface="Open Sauce Bold"/>
                  <a:sym typeface="Open Sauce Bold"/>
                </a:rPr>
                <a:t>3</a:t>
              </a:r>
            </a:p>
          </p:txBody>
        </p:sp>
        <p:sp>
          <p:nvSpPr>
            <p:cNvPr id="20" name="TextBox 20"/>
            <p:cNvSpPr txBox="1"/>
            <p:nvPr/>
          </p:nvSpPr>
          <p:spPr>
            <a:xfrm>
              <a:off x="1058986" y="-149750"/>
              <a:ext cx="7526020" cy="1170251"/>
            </a:xfrm>
            <a:prstGeom prst="rect">
              <a:avLst/>
            </a:prstGeom>
          </p:spPr>
          <p:txBody>
            <a:bodyPr lIns="0" tIns="0" rIns="0" bIns="0" rtlCol="0" anchor="t">
              <a:spAutoFit/>
            </a:bodyPr>
            <a:lstStyle/>
            <a:p>
              <a:pPr algn="ctr">
                <a:lnSpc>
                  <a:spcPts val="6826"/>
                </a:lnSpc>
                <a:spcBef>
                  <a:spcPct val="0"/>
                </a:spcBef>
              </a:pPr>
              <a:r>
                <a:rPr lang="en-US" sz="4876" spc="487">
                  <a:solidFill>
                    <a:srgbClr val="000000"/>
                  </a:solidFill>
                  <a:latin typeface="Times New Roman"/>
                  <a:ea typeface="Times New Roman"/>
                  <a:cs typeface="Times New Roman"/>
                  <a:sym typeface="Times New Roman"/>
                </a:rPr>
                <a:t>Literature Survey</a:t>
              </a:r>
            </a:p>
          </p:txBody>
        </p:sp>
      </p:grpSp>
      <p:grpSp>
        <p:nvGrpSpPr>
          <p:cNvPr id="21" name="Group 21"/>
          <p:cNvGrpSpPr/>
          <p:nvPr/>
        </p:nvGrpSpPr>
        <p:grpSpPr>
          <a:xfrm>
            <a:off x="1166399" y="5391150"/>
            <a:ext cx="6208939" cy="727669"/>
            <a:chOff x="0" y="0"/>
            <a:chExt cx="8278585" cy="970226"/>
          </a:xfrm>
        </p:grpSpPr>
        <p:grpSp>
          <p:nvGrpSpPr>
            <p:cNvPr id="22" name="Group 22"/>
            <p:cNvGrpSpPr/>
            <p:nvPr/>
          </p:nvGrpSpPr>
          <p:grpSpPr>
            <a:xfrm>
              <a:off x="0" y="0"/>
              <a:ext cx="868101" cy="868101"/>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25" name="TextBox 25"/>
            <p:cNvSpPr txBox="1"/>
            <p:nvPr/>
          </p:nvSpPr>
          <p:spPr>
            <a:xfrm>
              <a:off x="26156" y="126001"/>
              <a:ext cx="779441" cy="548549"/>
            </a:xfrm>
            <a:prstGeom prst="rect">
              <a:avLst/>
            </a:prstGeom>
          </p:spPr>
          <p:txBody>
            <a:bodyPr lIns="0" tIns="0" rIns="0" bIns="0" rtlCol="0" anchor="t">
              <a:spAutoFit/>
            </a:bodyPr>
            <a:lstStyle/>
            <a:p>
              <a:pPr marL="0" lvl="0" indent="0" algn="ctr">
                <a:lnSpc>
                  <a:spcPts val="3663"/>
                </a:lnSpc>
              </a:pPr>
              <a:r>
                <a:rPr lang="en-US" sz="2289" b="1">
                  <a:solidFill>
                    <a:srgbClr val="000000"/>
                  </a:solidFill>
                  <a:latin typeface="Open Sauce Bold"/>
                  <a:ea typeface="Open Sauce Bold"/>
                  <a:cs typeface="Open Sauce Bold"/>
                  <a:sym typeface="Open Sauce Bold"/>
                </a:rPr>
                <a:t>4</a:t>
              </a:r>
            </a:p>
          </p:txBody>
        </p:sp>
        <p:sp>
          <p:nvSpPr>
            <p:cNvPr id="26" name="TextBox 26"/>
            <p:cNvSpPr txBox="1"/>
            <p:nvPr/>
          </p:nvSpPr>
          <p:spPr>
            <a:xfrm>
              <a:off x="1058986" y="-200025"/>
              <a:ext cx="7219599" cy="1170251"/>
            </a:xfrm>
            <a:prstGeom prst="rect">
              <a:avLst/>
            </a:prstGeom>
          </p:spPr>
          <p:txBody>
            <a:bodyPr lIns="0" tIns="0" rIns="0" bIns="0" rtlCol="0" anchor="t">
              <a:spAutoFit/>
            </a:bodyPr>
            <a:lstStyle/>
            <a:p>
              <a:pPr algn="ctr">
                <a:lnSpc>
                  <a:spcPts val="6826"/>
                </a:lnSpc>
                <a:spcBef>
                  <a:spcPct val="0"/>
                </a:spcBef>
              </a:pPr>
              <a:r>
                <a:rPr lang="en-US" sz="4876" spc="487">
                  <a:solidFill>
                    <a:srgbClr val="000000"/>
                  </a:solidFill>
                  <a:latin typeface="Times New Roman"/>
                  <a:ea typeface="Times New Roman"/>
                  <a:cs typeface="Times New Roman"/>
                  <a:sym typeface="Times New Roman"/>
                </a:rPr>
                <a:t>Existing Systems</a:t>
              </a:r>
            </a:p>
          </p:txBody>
        </p:sp>
      </p:grpSp>
      <p:grpSp>
        <p:nvGrpSpPr>
          <p:cNvPr id="27" name="Group 27"/>
          <p:cNvGrpSpPr/>
          <p:nvPr/>
        </p:nvGrpSpPr>
        <p:grpSpPr>
          <a:xfrm>
            <a:off x="1166399" y="6252169"/>
            <a:ext cx="6720339" cy="727669"/>
            <a:chOff x="0" y="0"/>
            <a:chExt cx="8960452" cy="970226"/>
          </a:xfrm>
        </p:grpSpPr>
        <p:grpSp>
          <p:nvGrpSpPr>
            <p:cNvPr id="28" name="Group 28"/>
            <p:cNvGrpSpPr/>
            <p:nvPr/>
          </p:nvGrpSpPr>
          <p:grpSpPr>
            <a:xfrm>
              <a:off x="0" y="0"/>
              <a:ext cx="868101" cy="868101"/>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31" name="TextBox 31"/>
            <p:cNvSpPr txBox="1"/>
            <p:nvPr/>
          </p:nvSpPr>
          <p:spPr>
            <a:xfrm>
              <a:off x="26156" y="126001"/>
              <a:ext cx="779441" cy="548549"/>
            </a:xfrm>
            <a:prstGeom prst="rect">
              <a:avLst/>
            </a:prstGeom>
          </p:spPr>
          <p:txBody>
            <a:bodyPr lIns="0" tIns="0" rIns="0" bIns="0" rtlCol="0" anchor="t">
              <a:spAutoFit/>
            </a:bodyPr>
            <a:lstStyle/>
            <a:p>
              <a:pPr marL="0" lvl="0" indent="0" algn="ctr">
                <a:lnSpc>
                  <a:spcPts val="3663"/>
                </a:lnSpc>
              </a:pPr>
              <a:r>
                <a:rPr lang="en-US" sz="2289" b="1">
                  <a:solidFill>
                    <a:srgbClr val="000000"/>
                  </a:solidFill>
                  <a:latin typeface="Open Sauce Bold"/>
                  <a:ea typeface="Open Sauce Bold"/>
                  <a:cs typeface="Open Sauce Bold"/>
                  <a:sym typeface="Open Sauce Bold"/>
                </a:rPr>
                <a:t>5</a:t>
              </a:r>
            </a:p>
          </p:txBody>
        </p:sp>
        <p:sp>
          <p:nvSpPr>
            <p:cNvPr id="32" name="TextBox 32"/>
            <p:cNvSpPr txBox="1"/>
            <p:nvPr/>
          </p:nvSpPr>
          <p:spPr>
            <a:xfrm>
              <a:off x="1058986" y="-200025"/>
              <a:ext cx="7901466" cy="1170251"/>
            </a:xfrm>
            <a:prstGeom prst="rect">
              <a:avLst/>
            </a:prstGeom>
          </p:spPr>
          <p:txBody>
            <a:bodyPr lIns="0" tIns="0" rIns="0" bIns="0" rtlCol="0" anchor="t">
              <a:spAutoFit/>
            </a:bodyPr>
            <a:lstStyle/>
            <a:p>
              <a:pPr algn="ctr">
                <a:lnSpc>
                  <a:spcPts val="6826"/>
                </a:lnSpc>
                <a:spcBef>
                  <a:spcPct val="0"/>
                </a:spcBef>
              </a:pPr>
              <a:r>
                <a:rPr lang="en-US" sz="4876" spc="487">
                  <a:solidFill>
                    <a:srgbClr val="000000"/>
                  </a:solidFill>
                  <a:latin typeface="Times New Roman"/>
                  <a:ea typeface="Times New Roman"/>
                  <a:cs typeface="Times New Roman"/>
                  <a:sym typeface="Times New Roman"/>
                </a:rPr>
                <a:t>Proposed Solution</a:t>
              </a:r>
            </a:p>
          </p:txBody>
        </p:sp>
      </p:grpSp>
      <p:grpSp>
        <p:nvGrpSpPr>
          <p:cNvPr id="33" name="Group 33"/>
          <p:cNvGrpSpPr/>
          <p:nvPr/>
        </p:nvGrpSpPr>
        <p:grpSpPr>
          <a:xfrm>
            <a:off x="1166399" y="7113189"/>
            <a:ext cx="4823997" cy="742917"/>
            <a:chOff x="0" y="0"/>
            <a:chExt cx="6431996" cy="990556"/>
          </a:xfrm>
        </p:grpSpPr>
        <p:grpSp>
          <p:nvGrpSpPr>
            <p:cNvPr id="34" name="Group 34"/>
            <p:cNvGrpSpPr/>
            <p:nvPr/>
          </p:nvGrpSpPr>
          <p:grpSpPr>
            <a:xfrm>
              <a:off x="0" y="0"/>
              <a:ext cx="868101" cy="86810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sp>
          <p:sp>
            <p:nvSpPr>
              <p:cNvPr id="36" name="TextBox 36"/>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37" name="TextBox 37"/>
            <p:cNvSpPr txBox="1"/>
            <p:nvPr/>
          </p:nvSpPr>
          <p:spPr>
            <a:xfrm>
              <a:off x="26156" y="126001"/>
              <a:ext cx="779441" cy="548549"/>
            </a:xfrm>
            <a:prstGeom prst="rect">
              <a:avLst/>
            </a:prstGeom>
          </p:spPr>
          <p:txBody>
            <a:bodyPr lIns="0" tIns="0" rIns="0" bIns="0" rtlCol="0" anchor="t">
              <a:spAutoFit/>
            </a:bodyPr>
            <a:lstStyle/>
            <a:p>
              <a:pPr marL="0" lvl="0" indent="0" algn="ctr">
                <a:lnSpc>
                  <a:spcPts val="3663"/>
                </a:lnSpc>
              </a:pPr>
              <a:r>
                <a:rPr lang="en-US" sz="2289" b="1">
                  <a:solidFill>
                    <a:srgbClr val="000000"/>
                  </a:solidFill>
                  <a:latin typeface="Open Sauce Bold"/>
                  <a:ea typeface="Open Sauce Bold"/>
                  <a:cs typeface="Open Sauce Bold"/>
                  <a:sym typeface="Open Sauce Bold"/>
                </a:rPr>
                <a:t>6</a:t>
              </a:r>
            </a:p>
          </p:txBody>
        </p:sp>
        <p:sp>
          <p:nvSpPr>
            <p:cNvPr id="38" name="TextBox 38"/>
            <p:cNvSpPr txBox="1"/>
            <p:nvPr/>
          </p:nvSpPr>
          <p:spPr>
            <a:xfrm>
              <a:off x="1058986" y="-200025"/>
              <a:ext cx="5373010" cy="1190581"/>
            </a:xfrm>
            <a:prstGeom prst="rect">
              <a:avLst/>
            </a:prstGeom>
          </p:spPr>
          <p:txBody>
            <a:bodyPr lIns="0" tIns="0" rIns="0" bIns="0" rtlCol="0" anchor="t">
              <a:spAutoFit/>
            </a:bodyPr>
            <a:lstStyle/>
            <a:p>
              <a:pPr algn="l">
                <a:lnSpc>
                  <a:spcPts val="6826"/>
                </a:lnSpc>
                <a:spcBef>
                  <a:spcPct val="0"/>
                </a:spcBef>
              </a:pPr>
              <a:r>
                <a:rPr lang="en-US" sz="4876" spc="487">
                  <a:solidFill>
                    <a:srgbClr val="000000"/>
                  </a:solidFill>
                  <a:latin typeface="Times New Roman"/>
                  <a:ea typeface="Times New Roman"/>
                  <a:cs typeface="Times New Roman"/>
                  <a:sym typeface="Times New Roman"/>
                </a:rPr>
                <a:t>Features</a:t>
              </a:r>
            </a:p>
          </p:txBody>
        </p:sp>
      </p:grpSp>
      <p:sp>
        <p:nvSpPr>
          <p:cNvPr id="39" name="Freeform 39"/>
          <p:cNvSpPr/>
          <p:nvPr/>
        </p:nvSpPr>
        <p:spPr>
          <a:xfrm>
            <a:off x="8849267" y="0"/>
            <a:ext cx="9438733" cy="10287000"/>
          </a:xfrm>
          <a:custGeom>
            <a:avLst/>
            <a:gdLst/>
            <a:ahLst/>
            <a:cxnLst/>
            <a:rect l="l" t="t" r="r" b="b"/>
            <a:pathLst>
              <a:path w="9438733" h="10287000">
                <a:moveTo>
                  <a:pt x="0" y="0"/>
                </a:moveTo>
                <a:lnTo>
                  <a:pt x="9438733" y="0"/>
                </a:lnTo>
                <a:lnTo>
                  <a:pt x="9438733" y="10287000"/>
                </a:lnTo>
                <a:lnTo>
                  <a:pt x="0" y="10287000"/>
                </a:lnTo>
                <a:lnTo>
                  <a:pt x="0" y="0"/>
                </a:lnTo>
                <a:close/>
              </a:path>
            </a:pathLst>
          </a:custGeom>
          <a:blipFill>
            <a:blip r:embed="rId3"/>
            <a:stretch>
              <a:fillRect l="-4493" r="-4493"/>
            </a:stretch>
          </a:blipFill>
        </p:spPr>
      </p:sp>
      <p:sp>
        <p:nvSpPr>
          <p:cNvPr id="40" name="TextBox 40"/>
          <p:cNvSpPr txBox="1"/>
          <p:nvPr/>
        </p:nvSpPr>
        <p:spPr>
          <a:xfrm>
            <a:off x="1271922" y="486857"/>
            <a:ext cx="7577345" cy="1218565"/>
          </a:xfrm>
          <a:prstGeom prst="rect">
            <a:avLst/>
          </a:prstGeom>
        </p:spPr>
        <p:txBody>
          <a:bodyPr lIns="0" tIns="0" rIns="0" bIns="0" rtlCol="0" anchor="t">
            <a:spAutoFit/>
          </a:bodyPr>
          <a:lstStyle/>
          <a:p>
            <a:pPr algn="l">
              <a:lnSpc>
                <a:spcPts val="8959"/>
              </a:lnSpc>
            </a:pPr>
            <a:r>
              <a:rPr lang="en-US" sz="6399" b="1">
                <a:solidFill>
                  <a:srgbClr val="000000"/>
                </a:solidFill>
                <a:latin typeface="Times New Roman Bold"/>
                <a:ea typeface="Times New Roman Bold"/>
                <a:cs typeface="Times New Roman Bold"/>
                <a:sym typeface="Times New Roman Bold"/>
              </a:rPr>
              <a:t>Table of Contents</a:t>
            </a:r>
          </a:p>
        </p:txBody>
      </p:sp>
      <p:grpSp>
        <p:nvGrpSpPr>
          <p:cNvPr id="41" name="Group 41"/>
          <p:cNvGrpSpPr/>
          <p:nvPr/>
        </p:nvGrpSpPr>
        <p:grpSpPr>
          <a:xfrm>
            <a:off x="1166399" y="8050408"/>
            <a:ext cx="4823997" cy="727669"/>
            <a:chOff x="0" y="0"/>
            <a:chExt cx="6431996" cy="970226"/>
          </a:xfrm>
        </p:grpSpPr>
        <p:grpSp>
          <p:nvGrpSpPr>
            <p:cNvPr id="42" name="Group 42"/>
            <p:cNvGrpSpPr/>
            <p:nvPr/>
          </p:nvGrpSpPr>
          <p:grpSpPr>
            <a:xfrm>
              <a:off x="0" y="0"/>
              <a:ext cx="868101" cy="868101"/>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rgbClr val="000000"/>
                </a:solidFill>
                <a:prstDash val="solid"/>
                <a:miter/>
              </a:ln>
            </p:spPr>
          </p:sp>
          <p:sp>
            <p:nvSpPr>
              <p:cNvPr id="44" name="TextBox 44"/>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45" name="TextBox 45"/>
            <p:cNvSpPr txBox="1"/>
            <p:nvPr/>
          </p:nvSpPr>
          <p:spPr>
            <a:xfrm>
              <a:off x="26156" y="126001"/>
              <a:ext cx="779441" cy="548549"/>
            </a:xfrm>
            <a:prstGeom prst="rect">
              <a:avLst/>
            </a:prstGeom>
          </p:spPr>
          <p:txBody>
            <a:bodyPr lIns="0" tIns="0" rIns="0" bIns="0" rtlCol="0" anchor="t">
              <a:spAutoFit/>
            </a:bodyPr>
            <a:lstStyle/>
            <a:p>
              <a:pPr marL="0" lvl="0" indent="0" algn="ctr">
                <a:lnSpc>
                  <a:spcPts val="3663"/>
                </a:lnSpc>
              </a:pPr>
              <a:r>
                <a:rPr lang="en-US" sz="2289" b="1">
                  <a:solidFill>
                    <a:srgbClr val="000000"/>
                  </a:solidFill>
                  <a:latin typeface="Open Sauce Bold"/>
                  <a:ea typeface="Open Sauce Bold"/>
                  <a:cs typeface="Open Sauce Bold"/>
                  <a:sym typeface="Open Sauce Bold"/>
                </a:rPr>
                <a:t>7</a:t>
              </a:r>
            </a:p>
          </p:txBody>
        </p:sp>
        <p:sp>
          <p:nvSpPr>
            <p:cNvPr id="46" name="TextBox 46"/>
            <p:cNvSpPr txBox="1"/>
            <p:nvPr/>
          </p:nvSpPr>
          <p:spPr>
            <a:xfrm>
              <a:off x="1058986" y="-200025"/>
              <a:ext cx="5373010" cy="1170251"/>
            </a:xfrm>
            <a:prstGeom prst="rect">
              <a:avLst/>
            </a:prstGeom>
          </p:spPr>
          <p:txBody>
            <a:bodyPr lIns="0" tIns="0" rIns="0" bIns="0" rtlCol="0" anchor="t">
              <a:spAutoFit/>
            </a:bodyPr>
            <a:lstStyle/>
            <a:p>
              <a:pPr algn="ctr">
                <a:lnSpc>
                  <a:spcPts val="6826"/>
                </a:lnSpc>
                <a:spcBef>
                  <a:spcPct val="0"/>
                </a:spcBef>
              </a:pPr>
              <a:r>
                <a:rPr lang="en-US" sz="4876" spc="487">
                  <a:solidFill>
                    <a:srgbClr val="000000"/>
                  </a:solidFill>
                  <a:latin typeface="Times New Roman"/>
                  <a:ea typeface="Times New Roman"/>
                  <a:cs typeface="Times New Roman"/>
                  <a:sym typeface="Times New Roman"/>
                </a:rPr>
                <a:t>Architecture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806238" y="1159589"/>
            <a:ext cx="3345982" cy="1095375"/>
          </a:xfrm>
          <a:prstGeom prst="rect">
            <a:avLst/>
          </a:prstGeom>
        </p:spPr>
        <p:txBody>
          <a:bodyPr lIns="0" tIns="0" rIns="0" bIns="0" rtlCol="0" anchor="t">
            <a:spAutoFit/>
          </a:bodyPr>
          <a:lstStyle/>
          <a:p>
            <a:pPr marL="0" lvl="0" indent="0" algn="ctr">
              <a:lnSpc>
                <a:spcPts val="7680"/>
              </a:lnSpc>
              <a:spcBef>
                <a:spcPct val="0"/>
              </a:spcBef>
            </a:pPr>
            <a:r>
              <a:rPr lang="en-US" sz="6400" b="1" spc="64">
                <a:solidFill>
                  <a:srgbClr val="000000"/>
                </a:solidFill>
                <a:latin typeface="Times New Roman Bold"/>
                <a:ea typeface="Times New Roman Bold"/>
                <a:cs typeface="Times New Roman Bold"/>
                <a:sym typeface="Times New Roman Bold"/>
              </a:rPr>
              <a:t>Abstract</a:t>
            </a:r>
          </a:p>
        </p:txBody>
      </p:sp>
      <p:sp>
        <p:nvSpPr>
          <p:cNvPr id="5" name="TextBox 5"/>
          <p:cNvSpPr txBox="1"/>
          <p:nvPr/>
        </p:nvSpPr>
        <p:spPr>
          <a:xfrm>
            <a:off x="1258753" y="2831782"/>
            <a:ext cx="15692846" cy="5214697"/>
          </a:xfrm>
          <a:prstGeom prst="rect">
            <a:avLst/>
          </a:prstGeom>
        </p:spPr>
        <p:txBody>
          <a:bodyPr lIns="0" tIns="0" rIns="0" bIns="0" rtlCol="0" anchor="t">
            <a:spAutoFit/>
          </a:bodyPr>
          <a:lstStyle/>
          <a:p>
            <a:pPr algn="just">
              <a:lnSpc>
                <a:spcPts val="4113"/>
              </a:lnSpc>
              <a:spcBef>
                <a:spcPct val="0"/>
              </a:spcBef>
            </a:pPr>
            <a:r>
              <a:rPr lang="en-US" sz="2938" spc="293" dirty="0">
                <a:solidFill>
                  <a:srgbClr val="000000"/>
                </a:solidFill>
                <a:latin typeface="Times New Roman"/>
                <a:ea typeface="Times New Roman"/>
                <a:cs typeface="Times New Roman"/>
                <a:sym typeface="Times New Roman"/>
              </a:rPr>
              <a:t>Traditional recruitment methods face challenges like subjectivity, time constraints, and limited scalability. To address these, we propose a </a:t>
            </a:r>
            <a:r>
              <a:rPr lang="en-US" sz="2938" b="1" spc="293" dirty="0">
                <a:solidFill>
                  <a:srgbClr val="000000"/>
                </a:solidFill>
                <a:latin typeface="Times New Roman Bold"/>
                <a:ea typeface="Times New Roman Bold"/>
                <a:cs typeface="Times New Roman Bold"/>
                <a:sym typeface="Times New Roman Bold"/>
              </a:rPr>
              <a:t>Company-Specific AI Assessment Simulator</a:t>
            </a:r>
            <a:r>
              <a:rPr lang="en-US" sz="2938" spc="293" dirty="0">
                <a:solidFill>
                  <a:srgbClr val="000000"/>
                </a:solidFill>
                <a:latin typeface="Times New Roman"/>
                <a:ea typeface="Times New Roman"/>
                <a:cs typeface="Times New Roman"/>
                <a:sym typeface="Times New Roman"/>
              </a:rPr>
              <a:t> that integrates NLP, speech analysis and coding evaluation for unbiased, scalable candidate assessment. It supports coding challenges, MCQs, and skill tests through listening and speaking rounds. The system analyzes responses for grammar, fluency, pronunciation and reasoning while ensuring authenticity with AI-based proctoring. It also provides profile-based tracking, multilingual support, and exportable reports (PDF/Word), thereby enhancing recruitment efficiency, ensuring fairness, and offering candidates personalized feedback for improvement.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w="28575" cap="rnd">
            <a:solidFill>
              <a:srgbClr val="000000">
                <a:alpha val="49804"/>
              </a:srgbClr>
            </a:solidFill>
            <a:prstDash val="solid"/>
            <a:round/>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028700" y="1137079"/>
            <a:ext cx="4564462" cy="1095375"/>
          </a:xfrm>
          <a:prstGeom prst="rect">
            <a:avLst/>
          </a:prstGeom>
        </p:spPr>
        <p:txBody>
          <a:bodyPr lIns="0" tIns="0" rIns="0" bIns="0" rtlCol="0" anchor="t">
            <a:spAutoFit/>
          </a:bodyPr>
          <a:lstStyle/>
          <a:p>
            <a:pPr marL="0" lvl="0" indent="0" algn="ctr">
              <a:lnSpc>
                <a:spcPts val="7680"/>
              </a:lnSpc>
              <a:spcBef>
                <a:spcPct val="0"/>
              </a:spcBef>
            </a:pPr>
            <a:r>
              <a:rPr lang="en-US" sz="6400" b="1" spc="64">
                <a:solidFill>
                  <a:srgbClr val="000000"/>
                </a:solidFill>
                <a:latin typeface="Times New Roman Bold"/>
                <a:ea typeface="Times New Roman Bold"/>
                <a:cs typeface="Times New Roman Bold"/>
                <a:sym typeface="Times New Roman Bold"/>
              </a:rPr>
              <a:t>Introduction</a:t>
            </a:r>
          </a:p>
        </p:txBody>
      </p:sp>
      <p:grpSp>
        <p:nvGrpSpPr>
          <p:cNvPr id="5" name="Group 5"/>
          <p:cNvGrpSpPr/>
          <p:nvPr/>
        </p:nvGrpSpPr>
        <p:grpSpPr>
          <a:xfrm>
            <a:off x="10147316" y="6435149"/>
            <a:ext cx="6584044" cy="2521157"/>
            <a:chOff x="0" y="0"/>
            <a:chExt cx="1872468" cy="717004"/>
          </a:xfrm>
        </p:grpSpPr>
        <p:sp>
          <p:nvSpPr>
            <p:cNvPr id="6" name="Freeform 6"/>
            <p:cNvSpPr/>
            <p:nvPr/>
          </p:nvSpPr>
          <p:spPr>
            <a:xfrm>
              <a:off x="0" y="0"/>
              <a:ext cx="1872468" cy="717004"/>
            </a:xfrm>
            <a:custGeom>
              <a:avLst/>
              <a:gdLst/>
              <a:ahLst/>
              <a:cxnLst/>
              <a:rect l="l" t="t" r="r" b="b"/>
              <a:pathLst>
                <a:path w="1872468" h="717004">
                  <a:moveTo>
                    <a:pt x="64541" y="0"/>
                  </a:moveTo>
                  <a:lnTo>
                    <a:pt x="1807927" y="0"/>
                  </a:lnTo>
                  <a:cubicBezTo>
                    <a:pt x="1825044" y="0"/>
                    <a:pt x="1841461" y="6800"/>
                    <a:pt x="1853564" y="18904"/>
                  </a:cubicBezTo>
                  <a:cubicBezTo>
                    <a:pt x="1865668" y="31007"/>
                    <a:pt x="1872468" y="47424"/>
                    <a:pt x="1872468" y="64541"/>
                  </a:cubicBezTo>
                  <a:lnTo>
                    <a:pt x="1872468" y="652463"/>
                  </a:lnTo>
                  <a:cubicBezTo>
                    <a:pt x="1872468" y="688108"/>
                    <a:pt x="1843572" y="717004"/>
                    <a:pt x="1807927" y="717004"/>
                  </a:cubicBezTo>
                  <a:lnTo>
                    <a:pt x="64541" y="717004"/>
                  </a:lnTo>
                  <a:cubicBezTo>
                    <a:pt x="47424" y="717004"/>
                    <a:pt x="31007" y="710204"/>
                    <a:pt x="18904" y="698100"/>
                  </a:cubicBezTo>
                  <a:cubicBezTo>
                    <a:pt x="6800" y="685997"/>
                    <a:pt x="0" y="669580"/>
                    <a:pt x="0" y="652463"/>
                  </a:cubicBezTo>
                  <a:lnTo>
                    <a:pt x="0" y="64541"/>
                  </a:lnTo>
                  <a:cubicBezTo>
                    <a:pt x="0" y="28896"/>
                    <a:pt x="28896" y="0"/>
                    <a:pt x="64541" y="0"/>
                  </a:cubicBezTo>
                  <a:close/>
                </a:path>
              </a:pathLst>
            </a:custGeom>
            <a:solidFill>
              <a:srgbClr val="FFFFFF">
                <a:alpha val="49804"/>
              </a:srgbClr>
            </a:solidFill>
            <a:ln w="28575" cap="rnd">
              <a:solidFill>
                <a:srgbClr val="000000">
                  <a:alpha val="49804"/>
                </a:srgbClr>
              </a:solidFill>
              <a:prstDash val="solid"/>
              <a:round/>
            </a:ln>
          </p:spPr>
        </p:sp>
        <p:sp>
          <p:nvSpPr>
            <p:cNvPr id="7" name="TextBox 7"/>
            <p:cNvSpPr txBox="1"/>
            <p:nvPr/>
          </p:nvSpPr>
          <p:spPr>
            <a:xfrm>
              <a:off x="0" y="-47625"/>
              <a:ext cx="1872468" cy="764629"/>
            </a:xfrm>
            <a:prstGeom prst="rect">
              <a:avLst/>
            </a:prstGeom>
          </p:spPr>
          <p:txBody>
            <a:bodyPr lIns="43391" tIns="43391" rIns="43391" bIns="43391" rtlCol="0" anchor="ctr"/>
            <a:lstStyle/>
            <a:p>
              <a:pPr algn="r">
                <a:lnSpc>
                  <a:spcPts val="3360"/>
                </a:lnSpc>
              </a:pPr>
              <a:endParaRPr/>
            </a:p>
          </p:txBody>
        </p:sp>
      </p:grpSp>
      <p:sp>
        <p:nvSpPr>
          <p:cNvPr id="8" name="TextBox 8"/>
          <p:cNvSpPr txBox="1"/>
          <p:nvPr/>
        </p:nvSpPr>
        <p:spPr>
          <a:xfrm>
            <a:off x="11090459" y="7042947"/>
            <a:ext cx="4697758" cy="1143635"/>
          </a:xfrm>
          <a:prstGeom prst="rect">
            <a:avLst/>
          </a:prstGeom>
        </p:spPr>
        <p:txBody>
          <a:bodyPr lIns="0" tIns="0" rIns="0" bIns="0" rtlCol="0" anchor="t">
            <a:spAutoFit/>
          </a:bodyPr>
          <a:lstStyle/>
          <a:p>
            <a:pPr marL="0" lvl="0" indent="0" algn="ctr">
              <a:lnSpc>
                <a:spcPts val="4479"/>
              </a:lnSpc>
              <a:spcBef>
                <a:spcPct val="0"/>
              </a:spcBef>
            </a:pPr>
            <a:r>
              <a:rPr lang="en-US" sz="2799">
                <a:solidFill>
                  <a:srgbClr val="000000"/>
                </a:solidFill>
                <a:latin typeface="Times New Roman"/>
                <a:ea typeface="Times New Roman"/>
                <a:cs typeface="Times New Roman"/>
                <a:sym typeface="Times New Roman"/>
              </a:rPr>
              <a:t>Candid</a:t>
            </a:r>
            <a:r>
              <a:rPr lang="en-US" sz="2799" u="none" strike="noStrike">
                <a:solidFill>
                  <a:srgbClr val="000000"/>
                </a:solidFill>
                <a:latin typeface="Times New Roman"/>
                <a:ea typeface="Times New Roman"/>
                <a:cs typeface="Times New Roman"/>
                <a:sym typeface="Times New Roman"/>
              </a:rPr>
              <a:t>ates need personalized feedback to improve skills.</a:t>
            </a:r>
          </a:p>
        </p:txBody>
      </p:sp>
      <p:grpSp>
        <p:nvGrpSpPr>
          <p:cNvPr id="9" name="Group 9"/>
          <p:cNvGrpSpPr/>
          <p:nvPr/>
        </p:nvGrpSpPr>
        <p:grpSpPr>
          <a:xfrm>
            <a:off x="10147316" y="3164159"/>
            <a:ext cx="6584044" cy="2521157"/>
            <a:chOff x="0" y="0"/>
            <a:chExt cx="1872468" cy="717004"/>
          </a:xfrm>
        </p:grpSpPr>
        <p:sp>
          <p:nvSpPr>
            <p:cNvPr id="10" name="Freeform 10"/>
            <p:cNvSpPr/>
            <p:nvPr/>
          </p:nvSpPr>
          <p:spPr>
            <a:xfrm>
              <a:off x="0" y="0"/>
              <a:ext cx="1872468" cy="717004"/>
            </a:xfrm>
            <a:custGeom>
              <a:avLst/>
              <a:gdLst/>
              <a:ahLst/>
              <a:cxnLst/>
              <a:rect l="l" t="t" r="r" b="b"/>
              <a:pathLst>
                <a:path w="1872468" h="717004">
                  <a:moveTo>
                    <a:pt x="64541" y="0"/>
                  </a:moveTo>
                  <a:lnTo>
                    <a:pt x="1807927" y="0"/>
                  </a:lnTo>
                  <a:cubicBezTo>
                    <a:pt x="1825044" y="0"/>
                    <a:pt x="1841461" y="6800"/>
                    <a:pt x="1853564" y="18904"/>
                  </a:cubicBezTo>
                  <a:cubicBezTo>
                    <a:pt x="1865668" y="31007"/>
                    <a:pt x="1872468" y="47424"/>
                    <a:pt x="1872468" y="64541"/>
                  </a:cubicBezTo>
                  <a:lnTo>
                    <a:pt x="1872468" y="652463"/>
                  </a:lnTo>
                  <a:cubicBezTo>
                    <a:pt x="1872468" y="688108"/>
                    <a:pt x="1843572" y="717004"/>
                    <a:pt x="1807927" y="717004"/>
                  </a:cubicBezTo>
                  <a:lnTo>
                    <a:pt x="64541" y="717004"/>
                  </a:lnTo>
                  <a:cubicBezTo>
                    <a:pt x="47424" y="717004"/>
                    <a:pt x="31007" y="710204"/>
                    <a:pt x="18904" y="698100"/>
                  </a:cubicBezTo>
                  <a:cubicBezTo>
                    <a:pt x="6800" y="685997"/>
                    <a:pt x="0" y="669580"/>
                    <a:pt x="0" y="652463"/>
                  </a:cubicBezTo>
                  <a:lnTo>
                    <a:pt x="0" y="64541"/>
                  </a:lnTo>
                  <a:cubicBezTo>
                    <a:pt x="0" y="28896"/>
                    <a:pt x="28896" y="0"/>
                    <a:pt x="64541" y="0"/>
                  </a:cubicBezTo>
                  <a:close/>
                </a:path>
              </a:pathLst>
            </a:custGeom>
            <a:solidFill>
              <a:srgbClr val="FFFFFF">
                <a:alpha val="49804"/>
              </a:srgbClr>
            </a:solidFill>
            <a:ln w="28575" cap="rnd">
              <a:solidFill>
                <a:srgbClr val="000000">
                  <a:alpha val="49804"/>
                </a:srgbClr>
              </a:solidFill>
              <a:prstDash val="solid"/>
              <a:round/>
            </a:ln>
          </p:spPr>
        </p:sp>
        <p:sp>
          <p:nvSpPr>
            <p:cNvPr id="11" name="TextBox 11"/>
            <p:cNvSpPr txBox="1"/>
            <p:nvPr/>
          </p:nvSpPr>
          <p:spPr>
            <a:xfrm>
              <a:off x="0" y="-47625"/>
              <a:ext cx="1872468" cy="764629"/>
            </a:xfrm>
            <a:prstGeom prst="rect">
              <a:avLst/>
            </a:prstGeom>
          </p:spPr>
          <p:txBody>
            <a:bodyPr lIns="43391" tIns="43391" rIns="43391" bIns="43391" rtlCol="0" anchor="ctr"/>
            <a:lstStyle/>
            <a:p>
              <a:pPr algn="r">
                <a:lnSpc>
                  <a:spcPts val="3360"/>
                </a:lnSpc>
              </a:pPr>
              <a:endParaRPr/>
            </a:p>
          </p:txBody>
        </p:sp>
      </p:grpSp>
      <p:sp>
        <p:nvSpPr>
          <p:cNvPr id="12" name="TextBox 12"/>
          <p:cNvSpPr txBox="1"/>
          <p:nvPr/>
        </p:nvSpPr>
        <p:spPr>
          <a:xfrm>
            <a:off x="10671179" y="3698556"/>
            <a:ext cx="5536319" cy="1143635"/>
          </a:xfrm>
          <a:prstGeom prst="rect">
            <a:avLst/>
          </a:prstGeom>
        </p:spPr>
        <p:txBody>
          <a:bodyPr lIns="0" tIns="0" rIns="0" bIns="0" rtlCol="0" anchor="t">
            <a:spAutoFit/>
          </a:bodyPr>
          <a:lstStyle/>
          <a:p>
            <a:pPr marL="0" lvl="0" indent="0" algn="ctr">
              <a:lnSpc>
                <a:spcPts val="4479"/>
              </a:lnSpc>
              <a:spcBef>
                <a:spcPct val="0"/>
              </a:spcBef>
            </a:pPr>
            <a:r>
              <a:rPr lang="en-US" sz="2799">
                <a:solidFill>
                  <a:srgbClr val="000000"/>
                </a:solidFill>
                <a:latin typeface="Times New Roman"/>
                <a:ea typeface="Times New Roman"/>
                <a:cs typeface="Times New Roman"/>
                <a:sym typeface="Times New Roman"/>
              </a:rPr>
              <a:t>Co</a:t>
            </a:r>
            <a:r>
              <a:rPr lang="en-US" sz="2799" u="none" strike="noStrike">
                <a:solidFill>
                  <a:srgbClr val="000000"/>
                </a:solidFill>
                <a:latin typeface="Times New Roman"/>
                <a:ea typeface="Times New Roman"/>
                <a:cs typeface="Times New Roman"/>
                <a:sym typeface="Times New Roman"/>
              </a:rPr>
              <a:t>mpanies need efficient, unbiased, and scalable assessments.</a:t>
            </a:r>
          </a:p>
        </p:txBody>
      </p:sp>
      <p:grpSp>
        <p:nvGrpSpPr>
          <p:cNvPr id="13" name="Group 13"/>
          <p:cNvGrpSpPr/>
          <p:nvPr/>
        </p:nvGrpSpPr>
        <p:grpSpPr>
          <a:xfrm>
            <a:off x="2956570" y="3164159"/>
            <a:ext cx="6584044" cy="2521157"/>
            <a:chOff x="0" y="0"/>
            <a:chExt cx="1872468" cy="717004"/>
          </a:xfrm>
        </p:grpSpPr>
        <p:sp>
          <p:nvSpPr>
            <p:cNvPr id="14" name="Freeform 14"/>
            <p:cNvSpPr/>
            <p:nvPr/>
          </p:nvSpPr>
          <p:spPr>
            <a:xfrm>
              <a:off x="0" y="0"/>
              <a:ext cx="1872468" cy="717004"/>
            </a:xfrm>
            <a:custGeom>
              <a:avLst/>
              <a:gdLst/>
              <a:ahLst/>
              <a:cxnLst/>
              <a:rect l="l" t="t" r="r" b="b"/>
              <a:pathLst>
                <a:path w="1872468" h="717004">
                  <a:moveTo>
                    <a:pt x="64541" y="0"/>
                  </a:moveTo>
                  <a:lnTo>
                    <a:pt x="1807927" y="0"/>
                  </a:lnTo>
                  <a:cubicBezTo>
                    <a:pt x="1825044" y="0"/>
                    <a:pt x="1841461" y="6800"/>
                    <a:pt x="1853564" y="18904"/>
                  </a:cubicBezTo>
                  <a:cubicBezTo>
                    <a:pt x="1865668" y="31007"/>
                    <a:pt x="1872468" y="47424"/>
                    <a:pt x="1872468" y="64541"/>
                  </a:cubicBezTo>
                  <a:lnTo>
                    <a:pt x="1872468" y="652463"/>
                  </a:lnTo>
                  <a:cubicBezTo>
                    <a:pt x="1872468" y="688108"/>
                    <a:pt x="1843572" y="717004"/>
                    <a:pt x="1807927" y="717004"/>
                  </a:cubicBezTo>
                  <a:lnTo>
                    <a:pt x="64541" y="717004"/>
                  </a:lnTo>
                  <a:cubicBezTo>
                    <a:pt x="47424" y="717004"/>
                    <a:pt x="31007" y="710204"/>
                    <a:pt x="18904" y="698100"/>
                  </a:cubicBezTo>
                  <a:cubicBezTo>
                    <a:pt x="6800" y="685997"/>
                    <a:pt x="0" y="669580"/>
                    <a:pt x="0" y="652463"/>
                  </a:cubicBezTo>
                  <a:lnTo>
                    <a:pt x="0" y="64541"/>
                  </a:lnTo>
                  <a:cubicBezTo>
                    <a:pt x="0" y="28896"/>
                    <a:pt x="28896" y="0"/>
                    <a:pt x="64541" y="0"/>
                  </a:cubicBezTo>
                  <a:close/>
                </a:path>
              </a:pathLst>
            </a:custGeom>
            <a:solidFill>
              <a:srgbClr val="FFFFFF">
                <a:alpha val="49804"/>
              </a:srgbClr>
            </a:solidFill>
            <a:ln w="28575" cap="rnd">
              <a:solidFill>
                <a:srgbClr val="000000">
                  <a:alpha val="49804"/>
                </a:srgbClr>
              </a:solidFill>
              <a:prstDash val="solid"/>
              <a:round/>
            </a:ln>
          </p:spPr>
        </p:sp>
        <p:sp>
          <p:nvSpPr>
            <p:cNvPr id="15" name="TextBox 15"/>
            <p:cNvSpPr txBox="1"/>
            <p:nvPr/>
          </p:nvSpPr>
          <p:spPr>
            <a:xfrm>
              <a:off x="0" y="-47625"/>
              <a:ext cx="1872468" cy="764629"/>
            </a:xfrm>
            <a:prstGeom prst="rect">
              <a:avLst/>
            </a:prstGeom>
          </p:spPr>
          <p:txBody>
            <a:bodyPr lIns="43391" tIns="43391" rIns="43391" bIns="43391" rtlCol="0" anchor="ctr"/>
            <a:lstStyle/>
            <a:p>
              <a:pPr algn="r">
                <a:lnSpc>
                  <a:spcPts val="3360"/>
                </a:lnSpc>
              </a:pPr>
              <a:endParaRPr/>
            </a:p>
          </p:txBody>
        </p:sp>
      </p:grpSp>
      <p:sp>
        <p:nvSpPr>
          <p:cNvPr id="16" name="TextBox 16"/>
          <p:cNvSpPr txBox="1"/>
          <p:nvPr/>
        </p:nvSpPr>
        <p:spPr>
          <a:xfrm>
            <a:off x="3480432" y="3698556"/>
            <a:ext cx="5536319" cy="1143635"/>
          </a:xfrm>
          <a:prstGeom prst="rect">
            <a:avLst/>
          </a:prstGeom>
        </p:spPr>
        <p:txBody>
          <a:bodyPr lIns="0" tIns="0" rIns="0" bIns="0" rtlCol="0" anchor="t">
            <a:spAutoFit/>
          </a:bodyPr>
          <a:lstStyle/>
          <a:p>
            <a:pPr marL="0" lvl="0" indent="0" algn="ctr">
              <a:lnSpc>
                <a:spcPts val="4479"/>
              </a:lnSpc>
              <a:spcBef>
                <a:spcPct val="0"/>
              </a:spcBef>
            </a:pPr>
            <a:r>
              <a:rPr lang="en-US" sz="2799">
                <a:solidFill>
                  <a:srgbClr val="000000"/>
                </a:solidFill>
                <a:latin typeface="Times New Roman"/>
                <a:ea typeface="Times New Roman"/>
                <a:cs typeface="Times New Roman"/>
                <a:sym typeface="Times New Roman"/>
              </a:rPr>
              <a:t>R</a:t>
            </a:r>
            <a:r>
              <a:rPr lang="en-US" sz="2799" u="none" strike="noStrike">
                <a:solidFill>
                  <a:srgbClr val="000000"/>
                </a:solidFill>
                <a:latin typeface="Times New Roman"/>
                <a:ea typeface="Times New Roman"/>
                <a:cs typeface="Times New Roman"/>
                <a:sym typeface="Times New Roman"/>
              </a:rPr>
              <a:t>ecruitment is evolving with AI and automation.</a:t>
            </a:r>
          </a:p>
        </p:txBody>
      </p:sp>
      <p:grpSp>
        <p:nvGrpSpPr>
          <p:cNvPr id="17" name="Group 17"/>
          <p:cNvGrpSpPr/>
          <p:nvPr/>
        </p:nvGrpSpPr>
        <p:grpSpPr>
          <a:xfrm>
            <a:off x="2956570" y="6435149"/>
            <a:ext cx="6584044" cy="2521157"/>
            <a:chOff x="0" y="0"/>
            <a:chExt cx="1872468" cy="717004"/>
          </a:xfrm>
        </p:grpSpPr>
        <p:sp>
          <p:nvSpPr>
            <p:cNvPr id="18" name="Freeform 18"/>
            <p:cNvSpPr/>
            <p:nvPr/>
          </p:nvSpPr>
          <p:spPr>
            <a:xfrm>
              <a:off x="0" y="0"/>
              <a:ext cx="1872468" cy="717004"/>
            </a:xfrm>
            <a:custGeom>
              <a:avLst/>
              <a:gdLst/>
              <a:ahLst/>
              <a:cxnLst/>
              <a:rect l="l" t="t" r="r" b="b"/>
              <a:pathLst>
                <a:path w="1872468" h="717004">
                  <a:moveTo>
                    <a:pt x="64541" y="0"/>
                  </a:moveTo>
                  <a:lnTo>
                    <a:pt x="1807927" y="0"/>
                  </a:lnTo>
                  <a:cubicBezTo>
                    <a:pt x="1825044" y="0"/>
                    <a:pt x="1841461" y="6800"/>
                    <a:pt x="1853564" y="18904"/>
                  </a:cubicBezTo>
                  <a:cubicBezTo>
                    <a:pt x="1865668" y="31007"/>
                    <a:pt x="1872468" y="47424"/>
                    <a:pt x="1872468" y="64541"/>
                  </a:cubicBezTo>
                  <a:lnTo>
                    <a:pt x="1872468" y="652463"/>
                  </a:lnTo>
                  <a:cubicBezTo>
                    <a:pt x="1872468" y="688108"/>
                    <a:pt x="1843572" y="717004"/>
                    <a:pt x="1807927" y="717004"/>
                  </a:cubicBezTo>
                  <a:lnTo>
                    <a:pt x="64541" y="717004"/>
                  </a:lnTo>
                  <a:cubicBezTo>
                    <a:pt x="47424" y="717004"/>
                    <a:pt x="31007" y="710204"/>
                    <a:pt x="18904" y="698100"/>
                  </a:cubicBezTo>
                  <a:cubicBezTo>
                    <a:pt x="6800" y="685997"/>
                    <a:pt x="0" y="669580"/>
                    <a:pt x="0" y="652463"/>
                  </a:cubicBezTo>
                  <a:lnTo>
                    <a:pt x="0" y="64541"/>
                  </a:lnTo>
                  <a:cubicBezTo>
                    <a:pt x="0" y="28896"/>
                    <a:pt x="28896" y="0"/>
                    <a:pt x="64541" y="0"/>
                  </a:cubicBezTo>
                  <a:close/>
                </a:path>
              </a:pathLst>
            </a:custGeom>
            <a:solidFill>
              <a:srgbClr val="FFFFFF">
                <a:alpha val="49804"/>
              </a:srgbClr>
            </a:solidFill>
            <a:ln w="28575" cap="rnd">
              <a:solidFill>
                <a:srgbClr val="000000">
                  <a:alpha val="49804"/>
                </a:srgbClr>
              </a:solidFill>
              <a:prstDash val="solid"/>
              <a:round/>
            </a:ln>
          </p:spPr>
        </p:sp>
        <p:sp>
          <p:nvSpPr>
            <p:cNvPr id="19" name="TextBox 19"/>
            <p:cNvSpPr txBox="1"/>
            <p:nvPr/>
          </p:nvSpPr>
          <p:spPr>
            <a:xfrm>
              <a:off x="0" y="-47625"/>
              <a:ext cx="1872468" cy="764629"/>
            </a:xfrm>
            <a:prstGeom prst="rect">
              <a:avLst/>
            </a:prstGeom>
          </p:spPr>
          <p:txBody>
            <a:bodyPr lIns="43391" tIns="43391" rIns="43391" bIns="43391" rtlCol="0" anchor="ctr"/>
            <a:lstStyle/>
            <a:p>
              <a:pPr algn="r">
                <a:lnSpc>
                  <a:spcPts val="3360"/>
                </a:lnSpc>
              </a:pPr>
              <a:endParaRPr/>
            </a:p>
          </p:txBody>
        </p:sp>
      </p:grpSp>
      <p:sp>
        <p:nvSpPr>
          <p:cNvPr id="20" name="TextBox 20"/>
          <p:cNvSpPr txBox="1"/>
          <p:nvPr/>
        </p:nvSpPr>
        <p:spPr>
          <a:xfrm>
            <a:off x="3480432" y="7104541"/>
            <a:ext cx="4909064" cy="1093957"/>
          </a:xfrm>
          <a:prstGeom prst="rect">
            <a:avLst/>
          </a:prstGeom>
        </p:spPr>
        <p:txBody>
          <a:bodyPr lIns="0" tIns="0" rIns="0" bIns="0" rtlCol="0" anchor="t">
            <a:spAutoFit/>
          </a:bodyPr>
          <a:lstStyle/>
          <a:p>
            <a:pPr marL="0" lvl="0" indent="0" algn="ctr">
              <a:lnSpc>
                <a:spcPts val="4296"/>
              </a:lnSpc>
              <a:spcBef>
                <a:spcPct val="0"/>
              </a:spcBef>
            </a:pPr>
            <a:r>
              <a:rPr lang="en-US" sz="2685" u="none" strike="noStrike">
                <a:solidFill>
                  <a:srgbClr val="000000"/>
                </a:solidFill>
                <a:latin typeface="Times New Roman"/>
                <a:ea typeface="Times New Roman"/>
                <a:cs typeface="Times New Roman"/>
                <a:sym typeface="Times New Roman"/>
              </a:rPr>
              <a:t>Our project bridges the gap using AI-driven analytics.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graphicFrame>
        <p:nvGraphicFramePr>
          <p:cNvPr id="3" name="Table 3"/>
          <p:cNvGraphicFramePr>
            <a:graphicFrameLocks noGrp="1"/>
          </p:cNvGraphicFramePr>
          <p:nvPr/>
        </p:nvGraphicFramePr>
        <p:xfrm>
          <a:off x="288921" y="826110"/>
          <a:ext cx="17710158" cy="8677275"/>
        </p:xfrm>
        <a:graphic>
          <a:graphicData uri="http://schemas.openxmlformats.org/drawingml/2006/table">
            <a:tbl>
              <a:tblPr/>
              <a:tblGrid>
                <a:gridCol w="1141001">
                  <a:extLst>
                    <a:ext uri="{9D8B030D-6E8A-4147-A177-3AD203B41FA5}">
                      <a16:colId xmlns:a16="http://schemas.microsoft.com/office/drawing/2014/main" val="20000"/>
                    </a:ext>
                  </a:extLst>
                </a:gridCol>
                <a:gridCol w="3086825">
                  <a:extLst>
                    <a:ext uri="{9D8B030D-6E8A-4147-A177-3AD203B41FA5}">
                      <a16:colId xmlns:a16="http://schemas.microsoft.com/office/drawing/2014/main" val="20001"/>
                    </a:ext>
                  </a:extLst>
                </a:gridCol>
                <a:gridCol w="2632538">
                  <a:extLst>
                    <a:ext uri="{9D8B030D-6E8A-4147-A177-3AD203B41FA5}">
                      <a16:colId xmlns:a16="http://schemas.microsoft.com/office/drawing/2014/main" val="20002"/>
                    </a:ext>
                  </a:extLst>
                </a:gridCol>
                <a:gridCol w="1858843">
                  <a:extLst>
                    <a:ext uri="{9D8B030D-6E8A-4147-A177-3AD203B41FA5}">
                      <a16:colId xmlns:a16="http://schemas.microsoft.com/office/drawing/2014/main" val="20003"/>
                    </a:ext>
                  </a:extLst>
                </a:gridCol>
                <a:gridCol w="2444734">
                  <a:extLst>
                    <a:ext uri="{9D8B030D-6E8A-4147-A177-3AD203B41FA5}">
                      <a16:colId xmlns:a16="http://schemas.microsoft.com/office/drawing/2014/main" val="20004"/>
                    </a:ext>
                  </a:extLst>
                </a:gridCol>
                <a:gridCol w="3499471">
                  <a:extLst>
                    <a:ext uri="{9D8B030D-6E8A-4147-A177-3AD203B41FA5}">
                      <a16:colId xmlns:a16="http://schemas.microsoft.com/office/drawing/2014/main" val="20005"/>
                    </a:ext>
                  </a:extLst>
                </a:gridCol>
                <a:gridCol w="3046746">
                  <a:extLst>
                    <a:ext uri="{9D8B030D-6E8A-4147-A177-3AD203B41FA5}">
                      <a16:colId xmlns:a16="http://schemas.microsoft.com/office/drawing/2014/main" val="20006"/>
                    </a:ext>
                  </a:extLst>
                </a:gridCol>
              </a:tblGrid>
              <a:tr h="1269612">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S.No</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Title Of Paper</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Author</a:t>
                      </a:r>
                      <a:endParaRPr lang="en-US" sz="1100"/>
                    </a:p>
                    <a:p>
                      <a:pPr algn="ctr">
                        <a:lnSpc>
                          <a:spcPts val="3359"/>
                        </a:lnSpc>
                      </a:pPr>
                      <a:r>
                        <a:rPr lang="en-US" sz="2400" b="1">
                          <a:solidFill>
                            <a:srgbClr val="FFFFFF"/>
                          </a:solidFill>
                          <a:latin typeface="Open Sauce Bold"/>
                          <a:ea typeface="Open Sauce Bold"/>
                          <a:cs typeface="Open Sauce Bold"/>
                          <a:sym typeface="Open Sauce Bold"/>
                        </a:rPr>
                        <a:t>Name</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Journal Name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Year of Publications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Description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Limitations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extLst>
                  <a:ext uri="{0D108BD9-81ED-4DB2-BD59-A6C34878D82A}">
                    <a16:rowId xmlns:a16="http://schemas.microsoft.com/office/drawing/2014/main" val="10000"/>
                  </a:ext>
                </a:extLst>
              </a:tr>
              <a:tr h="3617918">
                <a:tc>
                  <a:txBody>
                    <a:bodyPr/>
                    <a:lstStyle/>
                    <a:p>
                      <a:pPr algn="ctr">
                        <a:lnSpc>
                          <a:spcPts val="2940"/>
                        </a:lnSpc>
                        <a:defRPr/>
                      </a:pPr>
                      <a:r>
                        <a:rPr lang="en-US" sz="2100">
                          <a:solidFill>
                            <a:srgbClr val="000000"/>
                          </a:solidFill>
                          <a:latin typeface="Open Sauce"/>
                          <a:ea typeface="Open Sauce"/>
                          <a:cs typeface="Open Sauce"/>
                          <a:sym typeface="Open Sauce"/>
                        </a:rPr>
                        <a:t>1</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Times New Roman"/>
                          <a:ea typeface="Times New Roman"/>
                          <a:cs typeface="Times New Roman"/>
                          <a:sym typeface="Times New Roman"/>
                        </a:rPr>
                        <a:t>AI-Powered Interview Assistant Chatbot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Ayush Singh, Gaurav Gaikwad, Rahul Ranjavan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800"/>
                        </a:lnSpc>
                        <a:defRPr/>
                      </a:pPr>
                      <a:r>
                        <a:rPr lang="en-US" sz="2000">
                          <a:solidFill>
                            <a:srgbClr val="000000"/>
                          </a:solidFill>
                          <a:latin typeface="Times New Roman"/>
                          <a:ea typeface="Times New Roman"/>
                          <a:cs typeface="Times New Roman"/>
                          <a:sym typeface="Times New Roman"/>
                        </a:rPr>
                        <a:t>International Journal of Scientific Research and Engineering Development (IJSRED)</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Times New Roman"/>
                          <a:ea typeface="Times New Roman"/>
                          <a:cs typeface="Times New Roman"/>
                          <a:sym typeface="Times New Roman"/>
                        </a:rPr>
                        <a:t>May–June 2025</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799"/>
                        </a:lnSpc>
                        <a:defRPr/>
                      </a:pPr>
                      <a:r>
                        <a:rPr lang="en-US" sz="1999">
                          <a:solidFill>
                            <a:srgbClr val="000000"/>
                          </a:solidFill>
                          <a:latin typeface="Times New Roman"/>
                          <a:ea typeface="Times New Roman"/>
                          <a:cs typeface="Times New Roman"/>
                          <a:sym typeface="Times New Roman"/>
                        </a:rPr>
                        <a:t>Presents an AI tool combining resume analysis, HR simulation, and technical Q&amp;A. Uses NLP, speech recognition, and emotion detection to evaluate candidates and generate performance reports.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431801" lvl="1" indent="-215900" algn="l">
                        <a:lnSpc>
                          <a:spcPts val="2800"/>
                        </a:lnSpc>
                        <a:buFont typeface="Arial"/>
                        <a:buChar char="•"/>
                        <a:defRPr/>
                      </a:pPr>
                      <a:r>
                        <a:rPr lang="en-US" sz="2000">
                          <a:solidFill>
                            <a:srgbClr val="000000"/>
                          </a:solidFill>
                          <a:latin typeface="Times New Roman"/>
                          <a:ea typeface="Times New Roman"/>
                          <a:cs typeface="Times New Roman"/>
                          <a:sym typeface="Times New Roman"/>
                        </a:rPr>
                        <a:t>Too focused on resume parsing</a:t>
                      </a:r>
                      <a:endParaRPr lang="en-US" sz="1100"/>
                    </a:p>
                    <a:p>
                      <a:pPr marL="431801" lvl="1" indent="-215900" algn="l">
                        <a:lnSpc>
                          <a:spcPts val="2800"/>
                        </a:lnSpc>
                        <a:buFont typeface="Arial"/>
                        <a:buChar char="•"/>
                      </a:pPr>
                      <a:r>
                        <a:rPr lang="en-US" sz="2000">
                          <a:solidFill>
                            <a:srgbClr val="000000"/>
                          </a:solidFill>
                          <a:latin typeface="Times New Roman"/>
                          <a:ea typeface="Times New Roman"/>
                          <a:cs typeface="Times New Roman"/>
                          <a:sym typeface="Times New Roman"/>
                        </a:rPr>
                        <a:t>No coding/aptitude tests</a:t>
                      </a:r>
                    </a:p>
                    <a:p>
                      <a:pPr marL="431801" lvl="1" indent="-215900" algn="l">
                        <a:lnSpc>
                          <a:spcPts val="2800"/>
                        </a:lnSpc>
                        <a:buFont typeface="Arial"/>
                        <a:buChar char="•"/>
                      </a:pPr>
                      <a:r>
                        <a:rPr lang="en-US" sz="2000">
                          <a:solidFill>
                            <a:srgbClr val="000000"/>
                          </a:solidFill>
                          <a:latin typeface="Times New Roman"/>
                          <a:ea typeface="Times New Roman"/>
                          <a:cs typeface="Times New Roman"/>
                          <a:sym typeface="Times New Roman"/>
                        </a:rPr>
                        <a:t>Lacks proctoring &amp; multilingual support</a:t>
                      </a:r>
                    </a:p>
                    <a:p>
                      <a:pPr marL="431801" lvl="1" indent="-215900" algn="l">
                        <a:lnSpc>
                          <a:spcPts val="2800"/>
                        </a:lnSpc>
                        <a:buFont typeface="Arial"/>
                        <a:buChar char="•"/>
                      </a:pPr>
                      <a:r>
                        <a:rPr lang="en-US" sz="2000">
                          <a:solidFill>
                            <a:srgbClr val="000000"/>
                          </a:solidFill>
                          <a:latin typeface="Times New Roman"/>
                          <a:ea typeface="Times New Roman"/>
                          <a:cs typeface="Times New Roman"/>
                          <a:sym typeface="Times New Roman"/>
                        </a:rPr>
                        <a:t>Acts as a prep tool, not a full simulator</a:t>
                      </a:r>
                    </a:p>
                    <a:p>
                      <a:pPr algn="l">
                        <a:lnSpc>
                          <a:spcPts val="2800"/>
                        </a:lnSpc>
                      </a:pPr>
                      <a:endParaRPr lang="en-US" sz="2000">
                        <a:solidFill>
                          <a:srgbClr val="000000"/>
                        </a:solidFill>
                        <a:latin typeface="Times New Roman"/>
                        <a:ea typeface="Times New Roman"/>
                        <a:cs typeface="Times New Roman"/>
                        <a:sym typeface="Times New Roman"/>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89745">
                <a:tc>
                  <a:txBody>
                    <a:bodyPr/>
                    <a:lstStyle/>
                    <a:p>
                      <a:pPr algn="ctr">
                        <a:lnSpc>
                          <a:spcPts val="2940"/>
                        </a:lnSpc>
                        <a:defRPr/>
                      </a:pPr>
                      <a:r>
                        <a:rPr lang="en-US" sz="2100">
                          <a:solidFill>
                            <a:srgbClr val="000000"/>
                          </a:solidFill>
                          <a:latin typeface="Open Sauce"/>
                          <a:ea typeface="Open Sauce"/>
                          <a:cs typeface="Open Sauce"/>
                          <a:sym typeface="Open Sauce"/>
                        </a:rPr>
                        <a:t>2</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Times New Roman"/>
                          <a:ea typeface="Times New Roman"/>
                          <a:cs typeface="Times New Roman"/>
                          <a:sym typeface="Times New Roman"/>
                        </a:rPr>
                        <a:t>AI-Powered Interview Preparation System: Integrating Resume Analysis, HR Simulation, and Technical Skill Assessment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Harsh Koshti, Prathamesh Gosavi, Roshan Pagar, Prathamesh Khairnar, Sopan Talekar</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a:solidFill>
                            <a:srgbClr val="000000"/>
                          </a:solidFill>
                          <a:latin typeface="Times New Roman"/>
                          <a:ea typeface="Times New Roman"/>
                          <a:cs typeface="Times New Roman"/>
                          <a:sym typeface="Times New Roman"/>
                        </a:rPr>
                        <a:t>Journal of Engineering Research and Reports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a:solidFill>
                            <a:srgbClr val="000000"/>
                          </a:solidFill>
                          <a:latin typeface="Times New Roman"/>
                          <a:ea typeface="Times New Roman"/>
                          <a:cs typeface="Times New Roman"/>
                          <a:sym typeface="Times New Roman"/>
                        </a:rPr>
                        <a:t>2025</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940"/>
                        </a:lnSpc>
                        <a:defRPr/>
                      </a:pPr>
                      <a:r>
                        <a:rPr lang="en-US" sz="2100">
                          <a:solidFill>
                            <a:srgbClr val="000000"/>
                          </a:solidFill>
                          <a:latin typeface="Times New Roman"/>
                          <a:ea typeface="Times New Roman"/>
                          <a:cs typeface="Times New Roman"/>
                          <a:sym typeface="Times New Roman"/>
                        </a:rPr>
                        <a:t>Introduces a chatbot for mock interviews using voice-to-text, text-to-speech, and NLP. Evaluates grammar, keywords, and sentiment, offering basic feedback across different job domains.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marL="453390" lvl="1" indent="-226695" algn="l">
                        <a:lnSpc>
                          <a:spcPts val="2940"/>
                        </a:lnSpc>
                        <a:buFont typeface="Arial"/>
                        <a:buChar char="•"/>
                        <a:defRPr/>
                      </a:pPr>
                      <a:r>
                        <a:rPr lang="en-US" sz="2100">
                          <a:solidFill>
                            <a:srgbClr val="000000"/>
                          </a:solidFill>
                          <a:latin typeface="Times New Roman"/>
                          <a:ea typeface="Times New Roman"/>
                          <a:cs typeface="Times New Roman"/>
                          <a:sym typeface="Times New Roman"/>
                        </a:rPr>
                        <a:t>No coding/aptitude assessments</a:t>
                      </a:r>
                      <a:endParaRPr lang="en-US" sz="1100"/>
                    </a:p>
                    <a:p>
                      <a:pPr marL="453390" lvl="1" indent="-226695" algn="l">
                        <a:lnSpc>
                          <a:spcPts val="2940"/>
                        </a:lnSpc>
                        <a:buFont typeface="Arial"/>
                        <a:buChar char="•"/>
                      </a:pPr>
                      <a:r>
                        <a:rPr lang="en-US" sz="2100">
                          <a:solidFill>
                            <a:srgbClr val="000000"/>
                          </a:solidFill>
                          <a:latin typeface="Times New Roman"/>
                          <a:ea typeface="Times New Roman"/>
                          <a:cs typeface="Times New Roman"/>
                          <a:sym typeface="Times New Roman"/>
                        </a:rPr>
                        <a:t>No proctoring</a:t>
                      </a:r>
                    </a:p>
                    <a:p>
                      <a:pPr marL="453390" lvl="1" indent="-226695" algn="l">
                        <a:lnSpc>
                          <a:spcPts val="2940"/>
                        </a:lnSpc>
                        <a:buFont typeface="Arial"/>
                        <a:buChar char="•"/>
                      </a:pPr>
                      <a:r>
                        <a:rPr lang="en-US" sz="2100">
                          <a:solidFill>
                            <a:srgbClr val="000000"/>
                          </a:solidFill>
                          <a:latin typeface="Times New Roman"/>
                          <a:ea typeface="Times New Roman"/>
                          <a:cs typeface="Times New Roman"/>
                          <a:sym typeface="Times New Roman"/>
                        </a:rPr>
                        <a:t>Feedback is basic (not detailed reports)</a:t>
                      </a:r>
                    </a:p>
                    <a:p>
                      <a:pPr marL="453390" lvl="1" indent="-226695" algn="l">
                        <a:lnSpc>
                          <a:spcPts val="2940"/>
                        </a:lnSpc>
                        <a:buFont typeface="Arial"/>
                        <a:buChar char="•"/>
                      </a:pPr>
                      <a:r>
                        <a:rPr lang="en-US" sz="2100">
                          <a:solidFill>
                            <a:srgbClr val="000000"/>
                          </a:solidFill>
                          <a:latin typeface="Times New Roman"/>
                          <a:ea typeface="Times New Roman"/>
                          <a:cs typeface="Times New Roman"/>
                          <a:sym typeface="Times New Roman"/>
                        </a:rPr>
                        <a:t>Only chatbot-based</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4"/>
          <p:cNvSpPr txBox="1"/>
          <p:nvPr/>
        </p:nvSpPr>
        <p:spPr>
          <a:xfrm>
            <a:off x="7151431" y="-31140"/>
            <a:ext cx="5040569" cy="741229"/>
          </a:xfrm>
          <a:prstGeom prst="rect">
            <a:avLst/>
          </a:prstGeom>
        </p:spPr>
        <p:txBody>
          <a:bodyPr wrap="square" lIns="0" tIns="0" rIns="0" bIns="0" rtlCol="0" anchor="t">
            <a:spAutoFit/>
          </a:bodyPr>
          <a:lstStyle/>
          <a:p>
            <a:pPr algn="l">
              <a:lnSpc>
                <a:spcPts val="6299"/>
              </a:lnSpc>
            </a:pPr>
            <a:r>
              <a:rPr lang="en-US" sz="4500" b="1" dirty="0">
                <a:solidFill>
                  <a:srgbClr val="000000"/>
                </a:solidFill>
                <a:latin typeface="Times New Roman Bold"/>
                <a:ea typeface="Times New Roman Bold"/>
                <a:cs typeface="Times New Roman Bold"/>
                <a:sym typeface="Times New Roman Bold"/>
              </a:rPr>
              <a:t>Literature Survey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graphicFrame>
        <p:nvGraphicFramePr>
          <p:cNvPr id="3" name="Table 3"/>
          <p:cNvGraphicFramePr>
            <a:graphicFrameLocks noGrp="1"/>
          </p:cNvGraphicFramePr>
          <p:nvPr/>
        </p:nvGraphicFramePr>
        <p:xfrm>
          <a:off x="243124" y="297324"/>
          <a:ext cx="17801750" cy="9692353"/>
        </p:xfrm>
        <a:graphic>
          <a:graphicData uri="http://schemas.openxmlformats.org/drawingml/2006/table">
            <a:tbl>
              <a:tblPr/>
              <a:tblGrid>
                <a:gridCol w="859500">
                  <a:extLst>
                    <a:ext uri="{9D8B030D-6E8A-4147-A177-3AD203B41FA5}">
                      <a16:colId xmlns:a16="http://schemas.microsoft.com/office/drawing/2014/main" val="20000"/>
                    </a:ext>
                  </a:extLst>
                </a:gridCol>
                <a:gridCol w="2628054">
                  <a:extLst>
                    <a:ext uri="{9D8B030D-6E8A-4147-A177-3AD203B41FA5}">
                      <a16:colId xmlns:a16="http://schemas.microsoft.com/office/drawing/2014/main" val="20001"/>
                    </a:ext>
                  </a:extLst>
                </a:gridCol>
                <a:gridCol w="2206372">
                  <a:extLst>
                    <a:ext uri="{9D8B030D-6E8A-4147-A177-3AD203B41FA5}">
                      <a16:colId xmlns:a16="http://schemas.microsoft.com/office/drawing/2014/main" val="20002"/>
                    </a:ext>
                  </a:extLst>
                </a:gridCol>
                <a:gridCol w="1902209">
                  <a:extLst>
                    <a:ext uri="{9D8B030D-6E8A-4147-A177-3AD203B41FA5}">
                      <a16:colId xmlns:a16="http://schemas.microsoft.com/office/drawing/2014/main" val="20003"/>
                    </a:ext>
                  </a:extLst>
                </a:gridCol>
                <a:gridCol w="1657093">
                  <a:extLst>
                    <a:ext uri="{9D8B030D-6E8A-4147-A177-3AD203B41FA5}">
                      <a16:colId xmlns:a16="http://schemas.microsoft.com/office/drawing/2014/main" val="20004"/>
                    </a:ext>
                  </a:extLst>
                </a:gridCol>
                <a:gridCol w="4310005">
                  <a:extLst>
                    <a:ext uri="{9D8B030D-6E8A-4147-A177-3AD203B41FA5}">
                      <a16:colId xmlns:a16="http://schemas.microsoft.com/office/drawing/2014/main" val="20005"/>
                    </a:ext>
                  </a:extLst>
                </a:gridCol>
                <a:gridCol w="4238517">
                  <a:extLst>
                    <a:ext uri="{9D8B030D-6E8A-4147-A177-3AD203B41FA5}">
                      <a16:colId xmlns:a16="http://schemas.microsoft.com/office/drawing/2014/main" val="20006"/>
                    </a:ext>
                  </a:extLst>
                </a:gridCol>
              </a:tblGrid>
              <a:tr h="1708333">
                <a:tc>
                  <a:txBody>
                    <a:bodyPr/>
                    <a:lstStyle/>
                    <a:p>
                      <a:pPr algn="ctr">
                        <a:lnSpc>
                          <a:spcPts val="3359"/>
                        </a:lnSpc>
                        <a:defRPr/>
                      </a:pPr>
                      <a:r>
                        <a:rPr lang="en-US" sz="2400" b="1">
                          <a:solidFill>
                            <a:srgbClr val="FFFFFF"/>
                          </a:solidFill>
                          <a:latin typeface="Times New Roman Bold"/>
                          <a:ea typeface="Times New Roman Bold"/>
                          <a:cs typeface="Times New Roman Bold"/>
                          <a:sym typeface="Times New Roman Bold"/>
                        </a:rPr>
                        <a:t>S.No</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Times New Roman Bold"/>
                          <a:ea typeface="Times New Roman Bold"/>
                          <a:cs typeface="Times New Roman Bold"/>
                          <a:sym typeface="Times New Roman Bold"/>
                        </a:rPr>
                        <a:t>Title Of Paper</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Times New Roman Bold"/>
                          <a:ea typeface="Times New Roman Bold"/>
                          <a:cs typeface="Times New Roman Bold"/>
                          <a:sym typeface="Times New Roman Bold"/>
                        </a:rPr>
                        <a:t>Author</a:t>
                      </a:r>
                      <a:endParaRPr lang="en-US" sz="1100"/>
                    </a:p>
                    <a:p>
                      <a:pPr algn="ctr">
                        <a:lnSpc>
                          <a:spcPts val="3359"/>
                        </a:lnSpc>
                      </a:pPr>
                      <a:r>
                        <a:rPr lang="en-US" sz="2400" b="1">
                          <a:solidFill>
                            <a:srgbClr val="FFFFFF"/>
                          </a:solidFill>
                          <a:latin typeface="Times New Roman Bold"/>
                          <a:ea typeface="Times New Roman Bold"/>
                          <a:cs typeface="Times New Roman Bold"/>
                          <a:sym typeface="Times New Roman Bold"/>
                        </a:rPr>
                        <a:t>Name</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Times New Roman Bold"/>
                          <a:ea typeface="Times New Roman Bold"/>
                          <a:cs typeface="Times New Roman Bold"/>
                          <a:sym typeface="Times New Roman Bold"/>
                        </a:rPr>
                        <a:t>Journal Name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Times New Roman Bold"/>
                          <a:ea typeface="Times New Roman Bold"/>
                          <a:cs typeface="Times New Roman Bold"/>
                          <a:sym typeface="Times New Roman Bold"/>
                        </a:rPr>
                        <a:t>Year of Publications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Times New Roman Bold"/>
                          <a:ea typeface="Times New Roman Bold"/>
                          <a:cs typeface="Times New Roman Bold"/>
                          <a:sym typeface="Times New Roman Bold"/>
                        </a:rPr>
                        <a:t>Description</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tc>
                  <a:txBody>
                    <a:bodyPr/>
                    <a:lstStyle/>
                    <a:p>
                      <a:pPr algn="ctr">
                        <a:lnSpc>
                          <a:spcPts val="3359"/>
                        </a:lnSpc>
                        <a:defRPr/>
                      </a:pPr>
                      <a:r>
                        <a:rPr lang="en-US" sz="2400" b="1">
                          <a:solidFill>
                            <a:srgbClr val="FFFFFF"/>
                          </a:solidFill>
                          <a:latin typeface="Times New Roman Bold"/>
                          <a:ea typeface="Times New Roman Bold"/>
                          <a:cs typeface="Times New Roman Bold"/>
                          <a:sym typeface="Times New Roman Bold"/>
                        </a:rPr>
                        <a:t>Limitations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191919"/>
                    </a:solidFill>
                  </a:tcPr>
                </a:tc>
                <a:extLst>
                  <a:ext uri="{0D108BD9-81ED-4DB2-BD59-A6C34878D82A}">
                    <a16:rowId xmlns:a16="http://schemas.microsoft.com/office/drawing/2014/main" val="10000"/>
                  </a:ext>
                </a:extLst>
              </a:tr>
              <a:tr h="4161078">
                <a:tc>
                  <a:txBody>
                    <a:bodyPr/>
                    <a:lstStyle/>
                    <a:p>
                      <a:pPr algn="ctr">
                        <a:lnSpc>
                          <a:spcPts val="2940"/>
                        </a:lnSpc>
                        <a:defRPr/>
                      </a:pPr>
                      <a:r>
                        <a:rPr lang="en-US" sz="2100">
                          <a:solidFill>
                            <a:srgbClr val="000000"/>
                          </a:solidFill>
                          <a:latin typeface="Times New Roman"/>
                          <a:ea typeface="Times New Roman"/>
                          <a:cs typeface="Times New Roman"/>
                          <a:sym typeface="Times New Roman"/>
                        </a:rPr>
                        <a:t>3</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AI-enhanced interview simulation in the metaverse: Transforming professional skills training through VR and generative conversational AI</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Abdullah Bin Nofal, Hassan Ali, Muhammad Hadi, and Team</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 Computers and Education: Artificial Intelligence (Elsevier)</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2025 (Available online Dec 2024)</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endParaRPr lang="en-US" sz="1100"/>
                    </a:p>
                    <a:p>
                      <a:pPr algn="ctr">
                        <a:lnSpc>
                          <a:spcPts val="2940"/>
                        </a:lnSpc>
                      </a:pPr>
                      <a:r>
                        <a:rPr lang="en-US" sz="2100">
                          <a:solidFill>
                            <a:srgbClr val="000000"/>
                          </a:solidFill>
                          <a:latin typeface="Times New Roman"/>
                          <a:ea typeface="Times New Roman"/>
                          <a:cs typeface="Times New Roman"/>
                          <a:sym typeface="Times New Roman"/>
                        </a:rPr>
                        <a:t> Uses Generative AI (ChatGPT, Dolly v2, Flan-T5) for dynamic questions &amp; feedback. Includes speech-to-text (Whisper), text-to-speech (Wit.AI), automated scoring (RoBERTa), bias analysis, and tested with 83 students.</a:t>
                      </a:r>
                    </a:p>
                    <a:p>
                      <a:pPr algn="ctr">
                        <a:lnSpc>
                          <a:spcPts val="2940"/>
                        </a:lnSpc>
                      </a:pPr>
                      <a:endParaRPr lang="en-US" sz="2100">
                        <a:solidFill>
                          <a:srgbClr val="000000"/>
                        </a:solidFill>
                        <a:latin typeface="Times New Roman"/>
                        <a:ea typeface="Times New Roman"/>
                        <a:cs typeface="Times New Roman"/>
                        <a:sym typeface="Times New Roman"/>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940"/>
                        </a:lnSpc>
                        <a:defRPr/>
                      </a:pPr>
                      <a:r>
                        <a:rPr lang="en-US" sz="2100">
                          <a:solidFill>
                            <a:srgbClr val="000000"/>
                          </a:solidFill>
                          <a:latin typeface="Times New Roman"/>
                          <a:ea typeface="Times New Roman"/>
                          <a:cs typeface="Times New Roman"/>
                          <a:sym typeface="Times New Roman"/>
                        </a:rPr>
                        <a:t>• Requires VR setup, less feasible for recruiters </a:t>
                      </a:r>
                      <a:endParaRPr lang="en-US" sz="1100"/>
                    </a:p>
                    <a:p>
                      <a:pPr algn="l">
                        <a:lnSpc>
                          <a:spcPts val="2940"/>
                        </a:lnSpc>
                      </a:pPr>
                      <a:r>
                        <a:rPr lang="en-US" sz="2100">
                          <a:solidFill>
                            <a:srgbClr val="000000"/>
                          </a:solidFill>
                          <a:latin typeface="Times New Roman"/>
                          <a:ea typeface="Times New Roman"/>
                          <a:cs typeface="Times New Roman"/>
                          <a:sym typeface="Times New Roman"/>
                        </a:rPr>
                        <a:t> • Limited coverage of coding/aptitude/gamified tests </a:t>
                      </a:r>
                    </a:p>
                    <a:p>
                      <a:pPr algn="l">
                        <a:lnSpc>
                          <a:spcPts val="2940"/>
                        </a:lnSpc>
                      </a:pPr>
                      <a:r>
                        <a:rPr lang="en-US" sz="2100">
                          <a:solidFill>
                            <a:srgbClr val="000000"/>
                          </a:solidFill>
                          <a:latin typeface="Times New Roman"/>
                          <a:ea typeface="Times New Roman"/>
                          <a:cs typeface="Times New Roman"/>
                          <a:sym typeface="Times New Roman"/>
                        </a:rPr>
                        <a:t> • Small sample (83 students) </a:t>
                      </a:r>
                    </a:p>
                    <a:p>
                      <a:pPr algn="l">
                        <a:lnSpc>
                          <a:spcPts val="2940"/>
                        </a:lnSpc>
                      </a:pPr>
                      <a:r>
                        <a:rPr lang="en-US" sz="2100">
                          <a:solidFill>
                            <a:srgbClr val="000000"/>
                          </a:solidFill>
                          <a:latin typeface="Times New Roman"/>
                          <a:ea typeface="Times New Roman"/>
                          <a:cs typeface="Times New Roman"/>
                          <a:sym typeface="Times New Roman"/>
                        </a:rPr>
                        <a:t> • Bias risks (5–10% variation by background) </a:t>
                      </a:r>
                    </a:p>
                    <a:p>
                      <a:pPr algn="l">
                        <a:lnSpc>
                          <a:spcPts val="2940"/>
                        </a:lnSpc>
                      </a:pPr>
                      <a:r>
                        <a:rPr lang="en-US" sz="2100">
                          <a:solidFill>
                            <a:srgbClr val="000000"/>
                          </a:solidFill>
                          <a:latin typeface="Times New Roman"/>
                          <a:ea typeface="Times New Roman"/>
                          <a:cs typeface="Times New Roman"/>
                          <a:sym typeface="Times New Roman"/>
                        </a:rPr>
                        <a:t> • No PDF/Word report export </a:t>
                      </a:r>
                    </a:p>
                    <a:p>
                      <a:pPr algn="l">
                        <a:lnSpc>
                          <a:spcPts val="2940"/>
                        </a:lnSpc>
                      </a:pPr>
                      <a:r>
                        <a:rPr lang="en-US" sz="2100">
                          <a:solidFill>
                            <a:srgbClr val="000000"/>
                          </a:solidFill>
                          <a:latin typeface="Times New Roman"/>
                          <a:ea typeface="Times New Roman"/>
                          <a:cs typeface="Times New Roman"/>
                          <a:sym typeface="Times New Roman"/>
                        </a:rPr>
                        <a:t> • Focused on training, not enterprise recruitment</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22942">
                <a:tc>
                  <a:txBody>
                    <a:bodyPr/>
                    <a:lstStyle/>
                    <a:p>
                      <a:pPr algn="ctr">
                        <a:lnSpc>
                          <a:spcPts val="2940"/>
                        </a:lnSpc>
                        <a:defRPr/>
                      </a:pPr>
                      <a:r>
                        <a:rPr lang="en-US" sz="2100">
                          <a:solidFill>
                            <a:srgbClr val="000000"/>
                          </a:solidFill>
                          <a:latin typeface="Times New Roman"/>
                          <a:ea typeface="Times New Roman"/>
                          <a:cs typeface="Times New Roman"/>
                          <a:sym typeface="Times New Roman"/>
                        </a:rPr>
                        <a:t>4</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Empowering Interview Success: An AI-Driven Approach</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Dr. Suvarna Pawar, Gaurav Misal, Vedant Sanap, Vaibhav Nanaware, Nikhil Berwal</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International Journal of Creative Research Thoughts (IJCRT)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Times New Roman"/>
                          <a:ea typeface="Times New Roman"/>
                          <a:cs typeface="Times New Roman"/>
                          <a:sym typeface="Times New Roman"/>
                        </a:rPr>
                        <a:t>2024</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endParaRPr lang="en-US" sz="1100"/>
                    </a:p>
                    <a:p>
                      <a:pPr algn="ctr">
                        <a:lnSpc>
                          <a:spcPts val="2940"/>
                        </a:lnSpc>
                      </a:pPr>
                      <a:r>
                        <a:rPr lang="en-US" sz="2100">
                          <a:solidFill>
                            <a:srgbClr val="000000"/>
                          </a:solidFill>
                          <a:latin typeface="Times New Roman"/>
                          <a:ea typeface="Times New Roman"/>
                          <a:cs typeface="Times New Roman"/>
                          <a:sym typeface="Times New Roman"/>
                        </a:rPr>
                        <a:t>AI-powered web app for interview preparation and assessment. Uses NLP &amp; BERT for question generation and answer evaluation. Includes voice interaction, 3D avatar engagement, proctoring, and personalized feedback.</a:t>
                      </a:r>
                    </a:p>
                    <a:p>
                      <a:pPr algn="ctr">
                        <a:lnSpc>
                          <a:spcPts val="2940"/>
                        </a:lnSpc>
                      </a:pPr>
                      <a:endParaRPr lang="en-US" sz="2100">
                        <a:solidFill>
                          <a:srgbClr val="000000"/>
                        </a:solidFill>
                        <a:latin typeface="Times New Roman"/>
                        <a:ea typeface="Times New Roman"/>
                        <a:cs typeface="Times New Roman"/>
                        <a:sym typeface="Times New Roman"/>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l">
                        <a:lnSpc>
                          <a:spcPts val="2940"/>
                        </a:lnSpc>
                        <a:defRPr/>
                      </a:pPr>
                      <a:r>
                        <a:rPr lang="en-US" sz="2100">
                          <a:solidFill>
                            <a:srgbClr val="000000"/>
                          </a:solidFill>
                          <a:latin typeface="Times New Roman"/>
                          <a:ea typeface="Times New Roman"/>
                          <a:cs typeface="Times New Roman"/>
                          <a:sym typeface="Times New Roman"/>
                        </a:rPr>
                        <a:t>• General prep tool, not company-specific </a:t>
                      </a:r>
                      <a:endParaRPr lang="en-US" sz="1100"/>
                    </a:p>
                    <a:p>
                      <a:pPr algn="l">
                        <a:lnSpc>
                          <a:spcPts val="2940"/>
                        </a:lnSpc>
                      </a:pPr>
                      <a:r>
                        <a:rPr lang="en-US" sz="2100">
                          <a:solidFill>
                            <a:srgbClr val="000000"/>
                          </a:solidFill>
                          <a:latin typeface="Times New Roman"/>
                          <a:ea typeface="Times New Roman"/>
                          <a:cs typeface="Times New Roman"/>
                          <a:sym typeface="Times New Roman"/>
                        </a:rPr>
                        <a:t> • No coding evaluation </a:t>
                      </a:r>
                    </a:p>
                    <a:p>
                      <a:pPr algn="l">
                        <a:lnSpc>
                          <a:spcPts val="2940"/>
                        </a:lnSpc>
                      </a:pPr>
                      <a:r>
                        <a:rPr lang="en-US" sz="2100">
                          <a:solidFill>
                            <a:srgbClr val="000000"/>
                          </a:solidFill>
                          <a:latin typeface="Times New Roman"/>
                          <a:ea typeface="Times New Roman"/>
                          <a:cs typeface="Times New Roman"/>
                          <a:sym typeface="Times New Roman"/>
                        </a:rPr>
                        <a:t> • 3D/VR may not scale for enterprises </a:t>
                      </a:r>
                    </a:p>
                    <a:p>
                      <a:pPr algn="l">
                        <a:lnSpc>
                          <a:spcPts val="2940"/>
                        </a:lnSpc>
                      </a:pPr>
                      <a:r>
                        <a:rPr lang="en-US" sz="2100">
                          <a:solidFill>
                            <a:srgbClr val="000000"/>
                          </a:solidFill>
                          <a:latin typeface="Times New Roman"/>
                          <a:ea typeface="Times New Roman"/>
                          <a:cs typeface="Times New Roman"/>
                          <a:sym typeface="Times New Roman"/>
                        </a:rPr>
                        <a:t> • Basic proctoring only </a:t>
                      </a:r>
                    </a:p>
                    <a:p>
                      <a:pPr algn="l">
                        <a:lnSpc>
                          <a:spcPts val="2940"/>
                        </a:lnSpc>
                      </a:pPr>
                      <a:r>
                        <a:rPr lang="en-US" sz="2100">
                          <a:solidFill>
                            <a:srgbClr val="000000"/>
                          </a:solidFill>
                          <a:latin typeface="Times New Roman"/>
                          <a:ea typeface="Times New Roman"/>
                          <a:cs typeface="Times New Roman"/>
                          <a:sym typeface="Times New Roman"/>
                        </a:rPr>
                        <a:t> • No report export (PDF/Word) or enterprise integration</a:t>
                      </a: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Freeform 4"/>
          <p:cNvSpPr/>
          <p:nvPr/>
        </p:nvSpPr>
        <p:spPr>
          <a:xfrm>
            <a:off x="9971388" y="0"/>
            <a:ext cx="8316612" cy="10287000"/>
          </a:xfrm>
          <a:custGeom>
            <a:avLst/>
            <a:gdLst/>
            <a:ahLst/>
            <a:cxnLst/>
            <a:rect l="l" t="t" r="r" b="b"/>
            <a:pathLst>
              <a:path w="8316612" h="10287000">
                <a:moveTo>
                  <a:pt x="0" y="0"/>
                </a:moveTo>
                <a:lnTo>
                  <a:pt x="8316612" y="0"/>
                </a:lnTo>
                <a:lnTo>
                  <a:pt x="8316612" y="10287000"/>
                </a:lnTo>
                <a:lnTo>
                  <a:pt x="0" y="10287000"/>
                </a:lnTo>
                <a:lnTo>
                  <a:pt x="0" y="0"/>
                </a:lnTo>
                <a:close/>
              </a:path>
            </a:pathLst>
          </a:custGeom>
          <a:blipFill>
            <a:blip r:embed="rId3"/>
            <a:stretch>
              <a:fillRect l="-10738" r="-12953"/>
            </a:stretch>
          </a:blipFill>
        </p:spPr>
      </p:sp>
      <p:sp>
        <p:nvSpPr>
          <p:cNvPr id="5" name="TextBox 5"/>
          <p:cNvSpPr txBox="1"/>
          <p:nvPr/>
        </p:nvSpPr>
        <p:spPr>
          <a:xfrm>
            <a:off x="1166399" y="1100475"/>
            <a:ext cx="8203716" cy="1218565"/>
          </a:xfrm>
          <a:prstGeom prst="rect">
            <a:avLst/>
          </a:prstGeom>
        </p:spPr>
        <p:txBody>
          <a:bodyPr lIns="0" tIns="0" rIns="0" bIns="0" rtlCol="0" anchor="t">
            <a:spAutoFit/>
          </a:bodyPr>
          <a:lstStyle/>
          <a:p>
            <a:pPr algn="l">
              <a:lnSpc>
                <a:spcPts val="8959"/>
              </a:lnSpc>
            </a:pPr>
            <a:r>
              <a:rPr lang="en-US" sz="6399" b="1">
                <a:solidFill>
                  <a:srgbClr val="000000"/>
                </a:solidFill>
                <a:latin typeface="Times New Roman Bold"/>
                <a:ea typeface="Times New Roman Bold"/>
                <a:cs typeface="Times New Roman Bold"/>
                <a:sym typeface="Times New Roman Bold"/>
              </a:rPr>
              <a:t>Existing Systems</a:t>
            </a:r>
          </a:p>
        </p:txBody>
      </p:sp>
      <p:sp>
        <p:nvSpPr>
          <p:cNvPr id="6" name="TextBox 6"/>
          <p:cNvSpPr txBox="1"/>
          <p:nvPr/>
        </p:nvSpPr>
        <p:spPr>
          <a:xfrm>
            <a:off x="1028700" y="2852420"/>
            <a:ext cx="8341415" cy="5591810"/>
          </a:xfrm>
          <a:prstGeom prst="rect">
            <a:avLst/>
          </a:prstGeom>
        </p:spPr>
        <p:txBody>
          <a:bodyPr lIns="0" tIns="0" rIns="0" bIns="0" rtlCol="0" anchor="t">
            <a:spAutoFit/>
          </a:bodyPr>
          <a:lstStyle/>
          <a:p>
            <a:pPr marL="604519" lvl="1" indent="-302260" algn="l">
              <a:lnSpc>
                <a:spcPts val="4479"/>
              </a:lnSpc>
              <a:buFont typeface="Arial"/>
              <a:buChar char="•"/>
            </a:pPr>
            <a:r>
              <a:rPr lang="en-US" sz="2799">
                <a:solidFill>
                  <a:srgbClr val="000000"/>
                </a:solidFill>
                <a:latin typeface="Open Sauce"/>
                <a:ea typeface="Open Sauce"/>
                <a:cs typeface="Open Sauce"/>
                <a:sym typeface="Open Sauce"/>
              </a:rPr>
              <a:t>Manual HR Interviews </a:t>
            </a:r>
          </a:p>
          <a:p>
            <a:pPr algn="l">
              <a:lnSpc>
                <a:spcPts val="4479"/>
              </a:lnSpc>
            </a:pPr>
            <a:r>
              <a:rPr lang="en-US" sz="2799">
                <a:solidFill>
                  <a:srgbClr val="000000"/>
                </a:solidFill>
                <a:latin typeface="Open Sauce"/>
                <a:ea typeface="Open Sauce"/>
                <a:cs typeface="Open Sauce"/>
                <a:sym typeface="Open Sauce"/>
              </a:rPr>
              <a:t>         → B</a:t>
            </a:r>
            <a:r>
              <a:rPr lang="en-US" sz="2799" u="none" strike="noStrike">
                <a:solidFill>
                  <a:srgbClr val="000000"/>
                </a:solidFill>
                <a:latin typeface="Open Sauce"/>
                <a:ea typeface="Open Sauce"/>
                <a:cs typeface="Open Sauce"/>
                <a:sym typeface="Open Sauce"/>
              </a:rPr>
              <a:t>iased, inconsistent, subjective.</a:t>
            </a:r>
          </a:p>
          <a:p>
            <a:pPr marL="604519" lvl="1" indent="-302260" algn="l">
              <a:lnSpc>
                <a:spcPts val="4479"/>
              </a:lnSpc>
              <a:buFont typeface="Arial"/>
              <a:buChar char="•"/>
            </a:pPr>
            <a:r>
              <a:rPr lang="en-US" sz="2799" u="none" strike="noStrike">
                <a:solidFill>
                  <a:srgbClr val="000000"/>
                </a:solidFill>
                <a:latin typeface="Open Sauce"/>
                <a:ea typeface="Open Sauce"/>
                <a:cs typeface="Open Sauce"/>
                <a:sym typeface="Open Sauce"/>
              </a:rPr>
              <a:t>Online Tests &amp; MCQs</a:t>
            </a:r>
          </a:p>
          <a:p>
            <a:pPr algn="l">
              <a:lnSpc>
                <a:spcPts val="4479"/>
              </a:lnSpc>
            </a:pPr>
            <a:r>
              <a:rPr lang="en-US" sz="2799" u="none" strike="noStrike">
                <a:solidFill>
                  <a:srgbClr val="000000"/>
                </a:solidFill>
                <a:latin typeface="Open Sauce"/>
                <a:ea typeface="Open Sauce"/>
                <a:cs typeface="Open Sauce"/>
                <a:sym typeface="Open Sauce"/>
              </a:rPr>
              <a:t>         → Focus only on technical/aptitude, miss                   </a:t>
            </a:r>
          </a:p>
          <a:p>
            <a:pPr algn="l">
              <a:lnSpc>
                <a:spcPts val="4479"/>
              </a:lnSpc>
            </a:pPr>
            <a:r>
              <a:rPr lang="en-US" sz="2799" u="none" strike="noStrike">
                <a:solidFill>
                  <a:srgbClr val="000000"/>
                </a:solidFill>
                <a:latin typeface="Open Sauce"/>
                <a:ea typeface="Open Sauce"/>
                <a:cs typeface="Open Sauce"/>
                <a:sym typeface="Open Sauce"/>
              </a:rPr>
              <a:t>             communication skills.</a:t>
            </a:r>
          </a:p>
          <a:p>
            <a:pPr marL="604519" lvl="1" indent="-302260" algn="l">
              <a:lnSpc>
                <a:spcPts val="4479"/>
              </a:lnSpc>
              <a:buFont typeface="Arial"/>
              <a:buChar char="•"/>
            </a:pPr>
            <a:r>
              <a:rPr lang="en-US" sz="2799" u="none" strike="noStrike">
                <a:solidFill>
                  <a:srgbClr val="000000"/>
                </a:solidFill>
                <a:latin typeface="Open Sauce"/>
                <a:ea typeface="Open Sauce"/>
                <a:cs typeface="Open Sauce"/>
                <a:sym typeface="Open Sauce"/>
              </a:rPr>
              <a:t>Video Conferencing </a:t>
            </a:r>
          </a:p>
          <a:p>
            <a:pPr algn="l">
              <a:lnSpc>
                <a:spcPts val="4479"/>
              </a:lnSpc>
            </a:pPr>
            <a:r>
              <a:rPr lang="en-US" sz="2799" u="none" strike="noStrike">
                <a:solidFill>
                  <a:srgbClr val="000000"/>
                </a:solidFill>
                <a:latin typeface="Open Sauce"/>
                <a:ea typeface="Open Sauce"/>
                <a:cs typeface="Open Sauce"/>
                <a:sym typeface="Open Sauce"/>
              </a:rPr>
              <a:t>         → Time-intensive, costly, not scalable.</a:t>
            </a:r>
          </a:p>
          <a:p>
            <a:pPr marL="604519" lvl="1" indent="-302260" algn="l">
              <a:lnSpc>
                <a:spcPts val="4479"/>
              </a:lnSpc>
              <a:buFont typeface="Arial"/>
              <a:buChar char="•"/>
            </a:pPr>
            <a:r>
              <a:rPr lang="en-US" sz="2799" u="none" strike="noStrike">
                <a:solidFill>
                  <a:srgbClr val="000000"/>
                </a:solidFill>
                <a:latin typeface="Open Sauce"/>
                <a:ea typeface="Open Sauce"/>
                <a:cs typeface="Open Sauce"/>
                <a:sym typeface="Open Sauce"/>
              </a:rPr>
              <a:t>General Issues </a:t>
            </a:r>
          </a:p>
          <a:p>
            <a:pPr algn="l">
              <a:lnSpc>
                <a:spcPts val="4479"/>
              </a:lnSpc>
            </a:pPr>
            <a:r>
              <a:rPr lang="en-US" sz="2799" u="none" strike="noStrike">
                <a:solidFill>
                  <a:srgbClr val="000000"/>
                </a:solidFill>
                <a:latin typeface="Open Sauce"/>
                <a:ea typeface="Open Sauce"/>
                <a:cs typeface="Open Sauce"/>
                <a:sym typeface="Open Sauce"/>
              </a:rPr>
              <a:t>         → Limited scalability, no personalized  </a:t>
            </a:r>
          </a:p>
          <a:p>
            <a:pPr algn="l">
              <a:lnSpc>
                <a:spcPts val="4479"/>
              </a:lnSpc>
            </a:pPr>
            <a:r>
              <a:rPr lang="en-US" sz="2799" u="none" strike="noStrike">
                <a:solidFill>
                  <a:srgbClr val="000000"/>
                </a:solidFill>
                <a:latin typeface="Open Sauce"/>
                <a:ea typeface="Open Sauce"/>
                <a:cs typeface="Open Sauce"/>
                <a:sym typeface="Open Sauce"/>
              </a:rPr>
              <a:t>             feedback.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233825"/>
            <a:ext cx="797760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Proposed Solution</a:t>
            </a:r>
          </a:p>
        </p:txBody>
      </p:sp>
      <p:sp>
        <p:nvSpPr>
          <p:cNvPr id="5" name="TextBox 5"/>
          <p:cNvSpPr txBox="1"/>
          <p:nvPr/>
        </p:nvSpPr>
        <p:spPr>
          <a:xfrm>
            <a:off x="1028700" y="3087342"/>
            <a:ext cx="17042404" cy="5631350"/>
          </a:xfrm>
          <a:prstGeom prst="rect">
            <a:avLst/>
          </a:prstGeom>
        </p:spPr>
        <p:txBody>
          <a:bodyPr lIns="0" tIns="0" rIns="0" bIns="0" rtlCol="0" anchor="t">
            <a:spAutoFit/>
          </a:bodyPr>
          <a:lstStyle/>
          <a:p>
            <a:pPr algn="l">
              <a:lnSpc>
                <a:spcPts val="3359"/>
              </a:lnSpc>
            </a:pPr>
            <a:r>
              <a:rPr lang="en-US" sz="2400" b="1" spc="240" dirty="0">
                <a:solidFill>
                  <a:srgbClr val="000000"/>
                </a:solidFill>
                <a:latin typeface="Times New Roman Bold"/>
                <a:ea typeface="Times New Roman Bold"/>
                <a:cs typeface="Times New Roman Bold"/>
                <a:sym typeface="Times New Roman Bold"/>
              </a:rPr>
              <a:t>  1. AI-driven and Adaptive Platform</a:t>
            </a:r>
          </a:p>
          <a:p>
            <a:pPr algn="l">
              <a:lnSpc>
                <a:spcPts val="3359"/>
              </a:lnSpc>
            </a:pPr>
            <a:r>
              <a:rPr lang="en-US" sz="2400" spc="240" dirty="0">
                <a:solidFill>
                  <a:srgbClr val="000000"/>
                </a:solidFill>
                <a:latin typeface="Times New Roman"/>
                <a:ea typeface="Times New Roman"/>
                <a:cs typeface="Times New Roman"/>
                <a:sym typeface="Times New Roman"/>
              </a:rPr>
              <a:t>           Our system leverages Artificial Intelligence to evaluate multiple skills – communication, coding,</a:t>
            </a:r>
          </a:p>
          <a:p>
            <a:pPr algn="l">
              <a:lnSpc>
                <a:spcPts val="3359"/>
              </a:lnSpc>
            </a:pPr>
            <a:r>
              <a:rPr lang="en-US" sz="2400" spc="240" dirty="0">
                <a:solidFill>
                  <a:srgbClr val="000000"/>
                </a:solidFill>
                <a:latin typeface="Times New Roman"/>
                <a:ea typeface="Times New Roman"/>
                <a:cs typeface="Times New Roman"/>
                <a:sym typeface="Times New Roman"/>
              </a:rPr>
              <a:t>           problem-solving, and reasoning – ensuring deeper insights compared to traditional methods.</a:t>
            </a:r>
          </a:p>
          <a:p>
            <a:pPr algn="l">
              <a:lnSpc>
                <a:spcPts val="3359"/>
              </a:lnSpc>
            </a:pPr>
            <a:r>
              <a:rPr lang="en-US" sz="2400" b="1" spc="240" dirty="0">
                <a:solidFill>
                  <a:srgbClr val="000000"/>
                </a:solidFill>
                <a:latin typeface="Times New Roman Bold"/>
                <a:ea typeface="Times New Roman Bold"/>
                <a:cs typeface="Times New Roman Bold"/>
                <a:sym typeface="Times New Roman Bold"/>
              </a:rPr>
              <a:t>  2. Addressing Limitations of Existing Systems</a:t>
            </a:r>
          </a:p>
          <a:p>
            <a:pPr algn="l">
              <a:lnSpc>
                <a:spcPts val="3359"/>
              </a:lnSpc>
            </a:pPr>
            <a:r>
              <a:rPr lang="en-US" sz="2400" b="1" spc="240" dirty="0">
                <a:solidFill>
                  <a:srgbClr val="000000"/>
                </a:solidFill>
                <a:latin typeface="Times New Roman Bold"/>
                <a:ea typeface="Times New Roman Bold"/>
                <a:cs typeface="Times New Roman Bold"/>
                <a:sym typeface="Times New Roman Bold"/>
              </a:rPr>
              <a:t>           </a:t>
            </a:r>
            <a:r>
              <a:rPr lang="en-US" sz="2400" spc="240" dirty="0">
                <a:solidFill>
                  <a:srgbClr val="000000"/>
                </a:solidFill>
                <a:latin typeface="Times New Roman"/>
                <a:ea typeface="Times New Roman"/>
                <a:cs typeface="Times New Roman"/>
                <a:sym typeface="Times New Roman"/>
              </a:rPr>
              <a:t>Unlike current platforms that are either manual or narrowly focused, this solution provides</a:t>
            </a:r>
          </a:p>
          <a:p>
            <a:pPr algn="l">
              <a:lnSpc>
                <a:spcPts val="3359"/>
              </a:lnSpc>
            </a:pPr>
            <a:r>
              <a:rPr lang="en-US" sz="2400" spc="240" dirty="0">
                <a:solidFill>
                  <a:srgbClr val="000000"/>
                </a:solidFill>
                <a:latin typeface="Times New Roman"/>
                <a:ea typeface="Times New Roman"/>
                <a:cs typeface="Times New Roman"/>
                <a:sym typeface="Times New Roman"/>
              </a:rPr>
              <a:t>           automation, multi-skill coverage, and personalized analysis, reducing bias and saving evaluation</a:t>
            </a:r>
          </a:p>
          <a:p>
            <a:pPr algn="l">
              <a:lnSpc>
                <a:spcPts val="3359"/>
              </a:lnSpc>
            </a:pPr>
            <a:r>
              <a:rPr lang="en-US" sz="2400" spc="240" dirty="0">
                <a:solidFill>
                  <a:srgbClr val="000000"/>
                </a:solidFill>
                <a:latin typeface="Times New Roman"/>
                <a:ea typeface="Times New Roman"/>
                <a:cs typeface="Times New Roman"/>
                <a:sym typeface="Times New Roman"/>
              </a:rPr>
              <a:t>           time.</a:t>
            </a:r>
          </a:p>
          <a:p>
            <a:pPr algn="l">
              <a:lnSpc>
                <a:spcPts val="3359"/>
              </a:lnSpc>
            </a:pPr>
            <a:r>
              <a:rPr lang="en-US" sz="2400" b="1" spc="240" dirty="0">
                <a:solidFill>
                  <a:srgbClr val="000000"/>
                </a:solidFill>
                <a:latin typeface="Times New Roman Bold"/>
                <a:ea typeface="Times New Roman Bold"/>
                <a:cs typeface="Times New Roman Bold"/>
                <a:sym typeface="Times New Roman Bold"/>
              </a:rPr>
              <a:t>  3. Fair, Scalable, and Holistic Evaluation</a:t>
            </a:r>
          </a:p>
          <a:p>
            <a:pPr algn="l">
              <a:lnSpc>
                <a:spcPts val="3359"/>
              </a:lnSpc>
            </a:pPr>
            <a:r>
              <a:rPr lang="en-US" sz="2400" b="1" spc="240" dirty="0">
                <a:solidFill>
                  <a:srgbClr val="000000"/>
                </a:solidFill>
                <a:latin typeface="Times New Roman Bold"/>
                <a:ea typeface="Times New Roman Bold"/>
                <a:cs typeface="Times New Roman Bold"/>
                <a:sym typeface="Times New Roman Bold"/>
              </a:rPr>
              <a:t>           </a:t>
            </a:r>
            <a:r>
              <a:rPr lang="en-US" sz="2400" spc="240" dirty="0">
                <a:solidFill>
                  <a:srgbClr val="000000"/>
                </a:solidFill>
                <a:latin typeface="Times New Roman"/>
                <a:ea typeface="Times New Roman"/>
                <a:cs typeface="Times New Roman"/>
                <a:sym typeface="Times New Roman"/>
              </a:rPr>
              <a:t>The system ensures authenticity through AI-based proctoring, scalability for large candidate</a:t>
            </a:r>
          </a:p>
          <a:p>
            <a:pPr algn="l">
              <a:lnSpc>
                <a:spcPts val="3359"/>
              </a:lnSpc>
            </a:pPr>
            <a:r>
              <a:rPr lang="en-US" sz="2400" spc="240" dirty="0">
                <a:solidFill>
                  <a:srgbClr val="000000"/>
                </a:solidFill>
                <a:latin typeface="Times New Roman"/>
                <a:ea typeface="Times New Roman"/>
                <a:cs typeface="Times New Roman"/>
                <a:sym typeface="Times New Roman"/>
              </a:rPr>
              <a:t>           pools, and fairness by relying on standardized AI metrics rather than subjective judgments.</a:t>
            </a:r>
          </a:p>
          <a:p>
            <a:pPr algn="l">
              <a:lnSpc>
                <a:spcPts val="3359"/>
              </a:lnSpc>
            </a:pPr>
            <a:r>
              <a:rPr lang="en-US" sz="2400" spc="240" dirty="0">
                <a:solidFill>
                  <a:srgbClr val="000000"/>
                </a:solidFill>
                <a:latin typeface="Times New Roman"/>
                <a:ea typeface="Times New Roman"/>
                <a:cs typeface="Times New Roman"/>
                <a:sym typeface="Times New Roman"/>
              </a:rPr>
              <a:t>  </a:t>
            </a:r>
            <a:r>
              <a:rPr lang="en-US" sz="2400" b="1" spc="240" dirty="0">
                <a:solidFill>
                  <a:srgbClr val="000000"/>
                </a:solidFill>
                <a:latin typeface="Times New Roman Bold"/>
                <a:ea typeface="Times New Roman Bold"/>
                <a:cs typeface="Times New Roman Bold"/>
                <a:sym typeface="Times New Roman Bold"/>
              </a:rPr>
              <a:t>4. Dual-Mode Functionality: Practice &amp; Exam</a:t>
            </a:r>
          </a:p>
          <a:p>
            <a:pPr algn="l">
              <a:lnSpc>
                <a:spcPts val="3359"/>
              </a:lnSpc>
            </a:pPr>
            <a:r>
              <a:rPr lang="en-US" sz="2400" b="1" spc="240" dirty="0">
                <a:solidFill>
                  <a:srgbClr val="000000"/>
                </a:solidFill>
                <a:latin typeface="Times New Roman Bold"/>
                <a:ea typeface="Times New Roman Bold"/>
                <a:cs typeface="Times New Roman Bold"/>
                <a:sym typeface="Times New Roman Bold"/>
              </a:rPr>
              <a:t>           </a:t>
            </a:r>
            <a:r>
              <a:rPr lang="en-US" sz="2400" spc="240" dirty="0">
                <a:solidFill>
                  <a:srgbClr val="000000"/>
                </a:solidFill>
                <a:latin typeface="Times New Roman"/>
                <a:ea typeface="Times New Roman"/>
                <a:cs typeface="Times New Roman"/>
                <a:sym typeface="Times New Roman"/>
              </a:rPr>
              <a:t>It supports a flexible environment where candidates can use AI hints and review tools in practice</a:t>
            </a:r>
          </a:p>
          <a:p>
            <a:pPr algn="l">
              <a:lnSpc>
                <a:spcPts val="3359"/>
              </a:lnSpc>
            </a:pPr>
            <a:r>
              <a:rPr lang="en-US" sz="2400" spc="240" dirty="0">
                <a:solidFill>
                  <a:srgbClr val="000000"/>
                </a:solidFill>
                <a:latin typeface="Times New Roman"/>
                <a:ea typeface="Times New Roman"/>
                <a:cs typeface="Times New Roman"/>
                <a:sym typeface="Times New Roman"/>
              </a:rPr>
              <a:t>           </a:t>
            </a:r>
            <a:r>
              <a:rPr lang="en-US" sz="2400" spc="240" err="1">
                <a:solidFill>
                  <a:srgbClr val="000000"/>
                </a:solidFill>
                <a:latin typeface="Times New Roman"/>
                <a:ea typeface="Times New Roman"/>
                <a:cs typeface="Times New Roman"/>
                <a:sym typeface="Times New Roman"/>
              </a:rPr>
              <a:t>mode</a:t>
            </a:r>
            <a:r>
              <a:rPr lang="en-US" sz="2400" spc="240">
                <a:solidFill>
                  <a:srgbClr val="000000"/>
                </a:solidFill>
                <a:latin typeface="Times New Roman"/>
                <a:ea typeface="Times New Roman"/>
                <a:cs typeface="Times New Roman"/>
                <a:sym typeface="Times New Roman"/>
              </a:rPr>
              <a:t>, while </a:t>
            </a:r>
            <a:r>
              <a:rPr lang="en-US" sz="2400" spc="240" dirty="0">
                <a:solidFill>
                  <a:srgbClr val="000000"/>
                </a:solidFill>
                <a:latin typeface="Times New Roman"/>
                <a:ea typeface="Times New Roman"/>
                <a:cs typeface="Times New Roman"/>
                <a:sym typeface="Times New Roman"/>
              </a:rPr>
              <a:t>strict evaluation is maintained during official exams through admin-controlled features.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grpSp>
        <p:nvGrpSpPr>
          <p:cNvPr id="4" name="Group 4"/>
          <p:cNvGrpSpPr/>
          <p:nvPr/>
        </p:nvGrpSpPr>
        <p:grpSpPr>
          <a:xfrm>
            <a:off x="1166399" y="6614507"/>
            <a:ext cx="3248341" cy="3501199"/>
            <a:chOff x="0" y="0"/>
            <a:chExt cx="4489857" cy="4839359"/>
          </a:xfrm>
        </p:grpSpPr>
        <p:sp>
          <p:nvSpPr>
            <p:cNvPr id="5" name="Freeform 5"/>
            <p:cNvSpPr/>
            <p:nvPr/>
          </p:nvSpPr>
          <p:spPr>
            <a:xfrm>
              <a:off x="0" y="0"/>
              <a:ext cx="4489857" cy="4839358"/>
            </a:xfrm>
            <a:custGeom>
              <a:avLst/>
              <a:gdLst/>
              <a:ahLst/>
              <a:cxnLst/>
              <a:rect l="l" t="t" r="r" b="b"/>
              <a:pathLst>
                <a:path w="4489857" h="4839358">
                  <a:moveTo>
                    <a:pt x="35577" y="0"/>
                  </a:moveTo>
                  <a:lnTo>
                    <a:pt x="4454281" y="0"/>
                  </a:lnTo>
                  <a:cubicBezTo>
                    <a:pt x="4473929" y="0"/>
                    <a:pt x="4489857" y="15928"/>
                    <a:pt x="4489857" y="35577"/>
                  </a:cubicBezTo>
                  <a:lnTo>
                    <a:pt x="4489857" y="4803782"/>
                  </a:lnTo>
                  <a:cubicBezTo>
                    <a:pt x="4489857" y="4823430"/>
                    <a:pt x="4473929" y="4839358"/>
                    <a:pt x="4454281" y="4839358"/>
                  </a:cubicBezTo>
                  <a:lnTo>
                    <a:pt x="35577" y="4839358"/>
                  </a:lnTo>
                  <a:cubicBezTo>
                    <a:pt x="15928" y="4839358"/>
                    <a:pt x="0" y="4823430"/>
                    <a:pt x="0" y="4803782"/>
                  </a:cubicBezTo>
                  <a:lnTo>
                    <a:pt x="0" y="35577"/>
                  </a:lnTo>
                  <a:cubicBezTo>
                    <a:pt x="0" y="15928"/>
                    <a:pt x="15928" y="0"/>
                    <a:pt x="35577" y="0"/>
                  </a:cubicBezTo>
                  <a:close/>
                </a:path>
              </a:pathLst>
            </a:custGeom>
            <a:solidFill>
              <a:srgbClr val="FFFFFF">
                <a:alpha val="49804"/>
              </a:srgbClr>
            </a:solidFill>
            <a:ln w="28575" cap="sq">
              <a:solidFill>
                <a:srgbClr val="000000">
                  <a:alpha val="49804"/>
                </a:srgbClr>
              </a:solidFill>
              <a:prstDash val="solid"/>
              <a:miter/>
            </a:ln>
          </p:spPr>
        </p:sp>
        <p:sp>
          <p:nvSpPr>
            <p:cNvPr id="6" name="TextBox 6"/>
            <p:cNvSpPr txBox="1"/>
            <p:nvPr/>
          </p:nvSpPr>
          <p:spPr>
            <a:xfrm>
              <a:off x="0" y="-47625"/>
              <a:ext cx="4489857" cy="4886984"/>
            </a:xfrm>
            <a:prstGeom prst="rect">
              <a:avLst/>
            </a:prstGeom>
          </p:spPr>
          <p:txBody>
            <a:bodyPr lIns="28463" tIns="28463" rIns="28463" bIns="28463" rtlCol="0" anchor="ctr"/>
            <a:lstStyle/>
            <a:p>
              <a:pPr algn="r">
                <a:lnSpc>
                  <a:spcPts val="3359"/>
                </a:lnSpc>
              </a:pPr>
              <a:endParaRPr/>
            </a:p>
          </p:txBody>
        </p:sp>
      </p:grpSp>
      <p:grpSp>
        <p:nvGrpSpPr>
          <p:cNvPr id="7" name="Group 7"/>
          <p:cNvGrpSpPr/>
          <p:nvPr/>
        </p:nvGrpSpPr>
        <p:grpSpPr>
          <a:xfrm>
            <a:off x="7338344" y="6614507"/>
            <a:ext cx="3248341" cy="3501199"/>
            <a:chOff x="0" y="0"/>
            <a:chExt cx="4489857" cy="4839359"/>
          </a:xfrm>
        </p:grpSpPr>
        <p:sp>
          <p:nvSpPr>
            <p:cNvPr id="8" name="Freeform 8"/>
            <p:cNvSpPr/>
            <p:nvPr/>
          </p:nvSpPr>
          <p:spPr>
            <a:xfrm>
              <a:off x="0" y="0"/>
              <a:ext cx="4489857" cy="4839358"/>
            </a:xfrm>
            <a:custGeom>
              <a:avLst/>
              <a:gdLst/>
              <a:ahLst/>
              <a:cxnLst/>
              <a:rect l="l" t="t" r="r" b="b"/>
              <a:pathLst>
                <a:path w="4489857" h="4839358">
                  <a:moveTo>
                    <a:pt x="35577" y="0"/>
                  </a:moveTo>
                  <a:lnTo>
                    <a:pt x="4454281" y="0"/>
                  </a:lnTo>
                  <a:cubicBezTo>
                    <a:pt x="4473929" y="0"/>
                    <a:pt x="4489857" y="15928"/>
                    <a:pt x="4489857" y="35577"/>
                  </a:cubicBezTo>
                  <a:lnTo>
                    <a:pt x="4489857" y="4803782"/>
                  </a:lnTo>
                  <a:cubicBezTo>
                    <a:pt x="4489857" y="4823430"/>
                    <a:pt x="4473929" y="4839358"/>
                    <a:pt x="4454281" y="4839358"/>
                  </a:cubicBezTo>
                  <a:lnTo>
                    <a:pt x="35577" y="4839358"/>
                  </a:lnTo>
                  <a:cubicBezTo>
                    <a:pt x="15928" y="4839358"/>
                    <a:pt x="0" y="4823430"/>
                    <a:pt x="0" y="4803782"/>
                  </a:cubicBezTo>
                  <a:lnTo>
                    <a:pt x="0" y="35577"/>
                  </a:lnTo>
                  <a:cubicBezTo>
                    <a:pt x="0" y="15928"/>
                    <a:pt x="15928" y="0"/>
                    <a:pt x="35577" y="0"/>
                  </a:cubicBezTo>
                  <a:close/>
                </a:path>
              </a:pathLst>
            </a:custGeom>
            <a:solidFill>
              <a:srgbClr val="FFFFFF">
                <a:alpha val="49804"/>
              </a:srgbClr>
            </a:solidFill>
            <a:ln w="28575" cap="sq">
              <a:solidFill>
                <a:srgbClr val="000000">
                  <a:alpha val="49804"/>
                </a:srgbClr>
              </a:solidFill>
              <a:prstDash val="solid"/>
              <a:miter/>
            </a:ln>
          </p:spPr>
        </p:sp>
        <p:sp>
          <p:nvSpPr>
            <p:cNvPr id="9" name="TextBox 9"/>
            <p:cNvSpPr txBox="1"/>
            <p:nvPr/>
          </p:nvSpPr>
          <p:spPr>
            <a:xfrm>
              <a:off x="0" y="-47625"/>
              <a:ext cx="4489857" cy="4886984"/>
            </a:xfrm>
            <a:prstGeom prst="rect">
              <a:avLst/>
            </a:prstGeom>
          </p:spPr>
          <p:txBody>
            <a:bodyPr lIns="32829" tIns="32829" rIns="32829" bIns="32829" rtlCol="0" anchor="ctr"/>
            <a:lstStyle/>
            <a:p>
              <a:pPr algn="r">
                <a:lnSpc>
                  <a:spcPts val="3359"/>
                </a:lnSpc>
              </a:pPr>
              <a:endParaRPr/>
            </a:p>
          </p:txBody>
        </p:sp>
      </p:grpSp>
      <p:grpSp>
        <p:nvGrpSpPr>
          <p:cNvPr id="10" name="Group 10"/>
          <p:cNvGrpSpPr/>
          <p:nvPr/>
        </p:nvGrpSpPr>
        <p:grpSpPr>
          <a:xfrm>
            <a:off x="13814229" y="6614507"/>
            <a:ext cx="3096371" cy="3501199"/>
            <a:chOff x="0" y="0"/>
            <a:chExt cx="4489857" cy="5076874"/>
          </a:xfrm>
        </p:grpSpPr>
        <p:sp>
          <p:nvSpPr>
            <p:cNvPr id="11" name="Freeform 11"/>
            <p:cNvSpPr/>
            <p:nvPr/>
          </p:nvSpPr>
          <p:spPr>
            <a:xfrm>
              <a:off x="0" y="0"/>
              <a:ext cx="4489857" cy="5076874"/>
            </a:xfrm>
            <a:custGeom>
              <a:avLst/>
              <a:gdLst/>
              <a:ahLst/>
              <a:cxnLst/>
              <a:rect l="l" t="t" r="r" b="b"/>
              <a:pathLst>
                <a:path w="4489857" h="5076874">
                  <a:moveTo>
                    <a:pt x="37323" y="0"/>
                  </a:moveTo>
                  <a:lnTo>
                    <a:pt x="4452535" y="0"/>
                  </a:lnTo>
                  <a:cubicBezTo>
                    <a:pt x="4473148" y="0"/>
                    <a:pt x="4489857" y="16710"/>
                    <a:pt x="4489857" y="37323"/>
                  </a:cubicBezTo>
                  <a:lnTo>
                    <a:pt x="4489857" y="5039552"/>
                  </a:lnTo>
                  <a:cubicBezTo>
                    <a:pt x="4489857" y="5060164"/>
                    <a:pt x="4473148" y="5076874"/>
                    <a:pt x="4452535" y="5076874"/>
                  </a:cubicBezTo>
                  <a:lnTo>
                    <a:pt x="37323" y="5076874"/>
                  </a:lnTo>
                  <a:cubicBezTo>
                    <a:pt x="16710" y="5076874"/>
                    <a:pt x="0" y="5060164"/>
                    <a:pt x="0" y="5039552"/>
                  </a:cubicBezTo>
                  <a:lnTo>
                    <a:pt x="0" y="37323"/>
                  </a:lnTo>
                  <a:cubicBezTo>
                    <a:pt x="0" y="16710"/>
                    <a:pt x="16710" y="0"/>
                    <a:pt x="37323" y="0"/>
                  </a:cubicBezTo>
                  <a:close/>
                </a:path>
              </a:pathLst>
            </a:custGeom>
            <a:solidFill>
              <a:srgbClr val="FFFFFF">
                <a:alpha val="49804"/>
              </a:srgbClr>
            </a:solidFill>
            <a:ln w="28575" cap="sq">
              <a:solidFill>
                <a:srgbClr val="000000">
                  <a:alpha val="49804"/>
                </a:srgbClr>
              </a:solidFill>
              <a:prstDash val="solid"/>
              <a:miter/>
            </a:ln>
          </p:spPr>
        </p:sp>
        <p:sp>
          <p:nvSpPr>
            <p:cNvPr id="12" name="TextBox 12"/>
            <p:cNvSpPr txBox="1"/>
            <p:nvPr/>
          </p:nvSpPr>
          <p:spPr>
            <a:xfrm>
              <a:off x="0" y="-47625"/>
              <a:ext cx="4489857" cy="5124499"/>
            </a:xfrm>
            <a:prstGeom prst="rect">
              <a:avLst/>
            </a:prstGeom>
          </p:spPr>
          <p:txBody>
            <a:bodyPr lIns="31293" tIns="31293" rIns="31293" bIns="31293" rtlCol="0" anchor="ctr"/>
            <a:lstStyle/>
            <a:p>
              <a:pPr algn="r">
                <a:lnSpc>
                  <a:spcPts val="3359"/>
                </a:lnSpc>
              </a:pPr>
              <a:endParaRPr/>
            </a:p>
          </p:txBody>
        </p:sp>
      </p:grpSp>
      <p:sp>
        <p:nvSpPr>
          <p:cNvPr id="13" name="Freeform 13"/>
          <p:cNvSpPr/>
          <p:nvPr/>
        </p:nvSpPr>
        <p:spPr>
          <a:xfrm>
            <a:off x="2123564" y="6800346"/>
            <a:ext cx="1334009" cy="1438331"/>
          </a:xfrm>
          <a:custGeom>
            <a:avLst/>
            <a:gdLst/>
            <a:ahLst/>
            <a:cxnLst/>
            <a:rect l="l" t="t" r="r" b="b"/>
            <a:pathLst>
              <a:path w="1334009" h="1438331">
                <a:moveTo>
                  <a:pt x="0" y="0"/>
                </a:moveTo>
                <a:lnTo>
                  <a:pt x="1334010" y="0"/>
                </a:lnTo>
                <a:lnTo>
                  <a:pt x="1334010" y="1438332"/>
                </a:lnTo>
                <a:lnTo>
                  <a:pt x="0" y="1438332"/>
                </a:lnTo>
                <a:lnTo>
                  <a:pt x="0" y="0"/>
                </a:lnTo>
                <a:close/>
              </a:path>
            </a:pathLst>
          </a:custGeom>
          <a:blipFill>
            <a:blip r:embed="rId3"/>
            <a:stretch>
              <a:fillRect l="-12385" t="-1627" r="-12385"/>
            </a:stretch>
          </a:blipFill>
        </p:spPr>
      </p:sp>
      <p:grpSp>
        <p:nvGrpSpPr>
          <p:cNvPr id="14" name="Group 14"/>
          <p:cNvGrpSpPr/>
          <p:nvPr/>
        </p:nvGrpSpPr>
        <p:grpSpPr>
          <a:xfrm>
            <a:off x="13662259" y="2604790"/>
            <a:ext cx="3248341" cy="3611509"/>
            <a:chOff x="0" y="0"/>
            <a:chExt cx="4331121" cy="4815346"/>
          </a:xfrm>
        </p:grpSpPr>
        <p:grpSp>
          <p:nvGrpSpPr>
            <p:cNvPr id="15" name="Group 15"/>
            <p:cNvGrpSpPr/>
            <p:nvPr/>
          </p:nvGrpSpPr>
          <p:grpSpPr>
            <a:xfrm>
              <a:off x="0" y="0"/>
              <a:ext cx="4331121" cy="4815346"/>
              <a:chOff x="0" y="0"/>
              <a:chExt cx="4489857" cy="4991829"/>
            </a:xfrm>
          </p:grpSpPr>
          <p:sp>
            <p:nvSpPr>
              <p:cNvPr id="16" name="Freeform 16"/>
              <p:cNvSpPr/>
              <p:nvPr/>
            </p:nvSpPr>
            <p:spPr>
              <a:xfrm>
                <a:off x="0" y="0"/>
                <a:ext cx="4489857" cy="4991829"/>
              </a:xfrm>
              <a:custGeom>
                <a:avLst/>
                <a:gdLst/>
                <a:ahLst/>
                <a:cxnLst/>
                <a:rect l="l" t="t" r="r" b="b"/>
                <a:pathLst>
                  <a:path w="4489857" h="4991829">
                    <a:moveTo>
                      <a:pt x="41033" y="0"/>
                    </a:moveTo>
                    <a:lnTo>
                      <a:pt x="4448824" y="0"/>
                    </a:lnTo>
                    <a:cubicBezTo>
                      <a:pt x="4471486" y="0"/>
                      <a:pt x="4489857" y="18371"/>
                      <a:pt x="4489857" y="41033"/>
                    </a:cubicBezTo>
                    <a:lnTo>
                      <a:pt x="4489857" y="4950796"/>
                    </a:lnTo>
                    <a:cubicBezTo>
                      <a:pt x="4489857" y="4961679"/>
                      <a:pt x="4485534" y="4972115"/>
                      <a:pt x="4477839" y="4979811"/>
                    </a:cubicBezTo>
                    <a:cubicBezTo>
                      <a:pt x="4470144" y="4987506"/>
                      <a:pt x="4459707" y="4991829"/>
                      <a:pt x="4448824" y="4991829"/>
                    </a:cubicBezTo>
                    <a:lnTo>
                      <a:pt x="41033" y="4991829"/>
                    </a:lnTo>
                    <a:cubicBezTo>
                      <a:pt x="30150" y="4991829"/>
                      <a:pt x="19714" y="4987506"/>
                      <a:pt x="12018" y="4979811"/>
                    </a:cubicBezTo>
                    <a:cubicBezTo>
                      <a:pt x="4323" y="4972115"/>
                      <a:pt x="0" y="4961679"/>
                      <a:pt x="0" y="4950796"/>
                    </a:cubicBezTo>
                    <a:lnTo>
                      <a:pt x="0" y="41033"/>
                    </a:lnTo>
                    <a:cubicBezTo>
                      <a:pt x="0" y="30150"/>
                      <a:pt x="4323" y="19714"/>
                      <a:pt x="12018" y="12018"/>
                    </a:cubicBezTo>
                    <a:cubicBezTo>
                      <a:pt x="19714" y="4323"/>
                      <a:pt x="30150" y="0"/>
                      <a:pt x="41033" y="0"/>
                    </a:cubicBezTo>
                    <a:close/>
                  </a:path>
                </a:pathLst>
              </a:custGeom>
              <a:solidFill>
                <a:srgbClr val="FFFFFF">
                  <a:alpha val="49804"/>
                </a:srgbClr>
              </a:solidFill>
              <a:ln w="28575" cap="sq">
                <a:solidFill>
                  <a:srgbClr val="000000">
                    <a:alpha val="49804"/>
                  </a:srgbClr>
                </a:solidFill>
                <a:prstDash val="solid"/>
                <a:miter/>
              </a:ln>
            </p:spPr>
          </p:sp>
          <p:sp>
            <p:nvSpPr>
              <p:cNvPr id="17" name="TextBox 17"/>
              <p:cNvSpPr txBox="1"/>
              <p:nvPr/>
            </p:nvSpPr>
            <p:spPr>
              <a:xfrm>
                <a:off x="0" y="-47625"/>
                <a:ext cx="4489857" cy="5039454"/>
              </a:xfrm>
              <a:prstGeom prst="rect">
                <a:avLst/>
              </a:prstGeom>
            </p:spPr>
            <p:txBody>
              <a:bodyPr lIns="28463" tIns="28463" rIns="28463" bIns="28463" rtlCol="0" anchor="ctr"/>
              <a:lstStyle/>
              <a:p>
                <a:pPr algn="r">
                  <a:lnSpc>
                    <a:spcPts val="3359"/>
                  </a:lnSpc>
                </a:pPr>
                <a:endParaRPr/>
              </a:p>
            </p:txBody>
          </p:sp>
        </p:grpSp>
        <p:sp>
          <p:nvSpPr>
            <p:cNvPr id="18" name="Freeform 18"/>
            <p:cNvSpPr/>
            <p:nvPr/>
          </p:nvSpPr>
          <p:spPr>
            <a:xfrm>
              <a:off x="527133" y="401342"/>
              <a:ext cx="3276856" cy="1155423"/>
            </a:xfrm>
            <a:custGeom>
              <a:avLst/>
              <a:gdLst/>
              <a:ahLst/>
              <a:cxnLst/>
              <a:rect l="l" t="t" r="r" b="b"/>
              <a:pathLst>
                <a:path w="3276856" h="1155423">
                  <a:moveTo>
                    <a:pt x="0" y="0"/>
                  </a:moveTo>
                  <a:lnTo>
                    <a:pt x="3276856" y="0"/>
                  </a:lnTo>
                  <a:lnTo>
                    <a:pt x="3276856" y="1155423"/>
                  </a:lnTo>
                  <a:lnTo>
                    <a:pt x="0" y="1155423"/>
                  </a:lnTo>
                  <a:lnTo>
                    <a:pt x="0" y="0"/>
                  </a:lnTo>
                  <a:close/>
                </a:path>
              </a:pathLst>
            </a:custGeom>
            <a:blipFill>
              <a:blip r:embed="rId4"/>
              <a:stretch>
                <a:fillRect/>
              </a:stretch>
            </a:blipFill>
          </p:spPr>
        </p:sp>
        <p:sp>
          <p:nvSpPr>
            <p:cNvPr id="19" name="TextBox 19"/>
            <p:cNvSpPr txBox="1"/>
            <p:nvPr/>
          </p:nvSpPr>
          <p:spPr>
            <a:xfrm>
              <a:off x="322998" y="2206853"/>
              <a:ext cx="3685125" cy="1387263"/>
            </a:xfrm>
            <a:prstGeom prst="rect">
              <a:avLst/>
            </a:prstGeom>
          </p:spPr>
          <p:txBody>
            <a:bodyPr lIns="0" tIns="0" rIns="0" bIns="0" rtlCol="0" anchor="t">
              <a:spAutoFit/>
            </a:bodyPr>
            <a:lstStyle/>
            <a:p>
              <a:pPr marL="0" lvl="0" indent="0" algn="ctr">
                <a:lnSpc>
                  <a:spcPts val="2895"/>
                </a:lnSpc>
              </a:pPr>
              <a:r>
                <a:rPr lang="en-US" sz="1809">
                  <a:solidFill>
                    <a:srgbClr val="000000"/>
                  </a:solidFill>
                  <a:latin typeface="Open Sauce"/>
                  <a:ea typeface="Open Sauce"/>
                  <a:cs typeface="Open Sauce"/>
                  <a:sym typeface="Open Sauce"/>
                </a:rPr>
                <a:t>Mu</a:t>
              </a:r>
              <a:r>
                <a:rPr lang="en-US" sz="1809" u="none" strike="noStrike">
                  <a:solidFill>
                    <a:srgbClr val="000000"/>
                  </a:solidFill>
                  <a:latin typeface="Open Sauce"/>
                  <a:ea typeface="Open Sauce"/>
                  <a:cs typeface="Open Sauce"/>
                  <a:sym typeface="Open Sauce"/>
                </a:rPr>
                <a:t>lti-language coding, adaptive test cases, optional AI hints.</a:t>
              </a:r>
            </a:p>
          </p:txBody>
        </p:sp>
      </p:grpSp>
      <p:grpSp>
        <p:nvGrpSpPr>
          <p:cNvPr id="20" name="Group 20"/>
          <p:cNvGrpSpPr/>
          <p:nvPr/>
        </p:nvGrpSpPr>
        <p:grpSpPr>
          <a:xfrm>
            <a:off x="1166399" y="2604790"/>
            <a:ext cx="3248341" cy="3611509"/>
            <a:chOff x="0" y="0"/>
            <a:chExt cx="4331121" cy="4815346"/>
          </a:xfrm>
        </p:grpSpPr>
        <p:grpSp>
          <p:nvGrpSpPr>
            <p:cNvPr id="21" name="Group 21"/>
            <p:cNvGrpSpPr/>
            <p:nvPr/>
          </p:nvGrpSpPr>
          <p:grpSpPr>
            <a:xfrm>
              <a:off x="0" y="0"/>
              <a:ext cx="4331121" cy="4815346"/>
              <a:chOff x="0" y="0"/>
              <a:chExt cx="4489857" cy="4991829"/>
            </a:xfrm>
          </p:grpSpPr>
          <p:sp>
            <p:nvSpPr>
              <p:cNvPr id="22" name="Freeform 22"/>
              <p:cNvSpPr/>
              <p:nvPr/>
            </p:nvSpPr>
            <p:spPr>
              <a:xfrm>
                <a:off x="0" y="0"/>
                <a:ext cx="4489857" cy="4991829"/>
              </a:xfrm>
              <a:custGeom>
                <a:avLst/>
                <a:gdLst/>
                <a:ahLst/>
                <a:cxnLst/>
                <a:rect l="l" t="t" r="r" b="b"/>
                <a:pathLst>
                  <a:path w="4489857" h="4991829">
                    <a:moveTo>
                      <a:pt x="41033" y="0"/>
                    </a:moveTo>
                    <a:lnTo>
                      <a:pt x="4448824" y="0"/>
                    </a:lnTo>
                    <a:cubicBezTo>
                      <a:pt x="4471486" y="0"/>
                      <a:pt x="4489857" y="18371"/>
                      <a:pt x="4489857" y="41033"/>
                    </a:cubicBezTo>
                    <a:lnTo>
                      <a:pt x="4489857" y="4950796"/>
                    </a:lnTo>
                    <a:cubicBezTo>
                      <a:pt x="4489857" y="4961679"/>
                      <a:pt x="4485534" y="4972115"/>
                      <a:pt x="4477839" y="4979811"/>
                    </a:cubicBezTo>
                    <a:cubicBezTo>
                      <a:pt x="4470144" y="4987506"/>
                      <a:pt x="4459707" y="4991829"/>
                      <a:pt x="4448824" y="4991829"/>
                    </a:cubicBezTo>
                    <a:lnTo>
                      <a:pt x="41033" y="4991829"/>
                    </a:lnTo>
                    <a:cubicBezTo>
                      <a:pt x="30150" y="4991829"/>
                      <a:pt x="19714" y="4987506"/>
                      <a:pt x="12018" y="4979811"/>
                    </a:cubicBezTo>
                    <a:cubicBezTo>
                      <a:pt x="4323" y="4972115"/>
                      <a:pt x="0" y="4961679"/>
                      <a:pt x="0" y="4950796"/>
                    </a:cubicBezTo>
                    <a:lnTo>
                      <a:pt x="0" y="41033"/>
                    </a:lnTo>
                    <a:cubicBezTo>
                      <a:pt x="0" y="30150"/>
                      <a:pt x="4323" y="19714"/>
                      <a:pt x="12018" y="12018"/>
                    </a:cubicBezTo>
                    <a:cubicBezTo>
                      <a:pt x="19714" y="4323"/>
                      <a:pt x="30150" y="0"/>
                      <a:pt x="41033" y="0"/>
                    </a:cubicBezTo>
                    <a:close/>
                  </a:path>
                </a:pathLst>
              </a:custGeom>
              <a:solidFill>
                <a:srgbClr val="FFFFFF">
                  <a:alpha val="49804"/>
                </a:srgbClr>
              </a:solidFill>
              <a:ln w="28575" cap="sq">
                <a:solidFill>
                  <a:srgbClr val="000000">
                    <a:alpha val="49804"/>
                  </a:srgbClr>
                </a:solidFill>
                <a:prstDash val="solid"/>
                <a:miter/>
              </a:ln>
            </p:spPr>
          </p:sp>
          <p:sp>
            <p:nvSpPr>
              <p:cNvPr id="23" name="TextBox 23"/>
              <p:cNvSpPr txBox="1"/>
              <p:nvPr/>
            </p:nvSpPr>
            <p:spPr>
              <a:xfrm>
                <a:off x="0" y="-47625"/>
                <a:ext cx="4489857" cy="5039454"/>
              </a:xfrm>
              <a:prstGeom prst="rect">
                <a:avLst/>
              </a:prstGeom>
            </p:spPr>
            <p:txBody>
              <a:bodyPr lIns="28463" tIns="28463" rIns="28463" bIns="28463" rtlCol="0" anchor="ctr"/>
              <a:lstStyle/>
              <a:p>
                <a:pPr algn="r">
                  <a:lnSpc>
                    <a:spcPts val="3359"/>
                  </a:lnSpc>
                </a:pPr>
                <a:endParaRPr/>
              </a:p>
            </p:txBody>
          </p:sp>
        </p:grpSp>
        <p:sp>
          <p:nvSpPr>
            <p:cNvPr id="24" name="Freeform 24"/>
            <p:cNvSpPr/>
            <p:nvPr/>
          </p:nvSpPr>
          <p:spPr>
            <a:xfrm>
              <a:off x="1276221" y="401342"/>
              <a:ext cx="1778679" cy="1764218"/>
            </a:xfrm>
            <a:custGeom>
              <a:avLst/>
              <a:gdLst/>
              <a:ahLst/>
              <a:cxnLst/>
              <a:rect l="l" t="t" r="r" b="b"/>
              <a:pathLst>
                <a:path w="1778679" h="1764218">
                  <a:moveTo>
                    <a:pt x="0" y="0"/>
                  </a:moveTo>
                  <a:lnTo>
                    <a:pt x="1778679" y="0"/>
                  </a:lnTo>
                  <a:lnTo>
                    <a:pt x="1778679" y="1764219"/>
                  </a:lnTo>
                  <a:lnTo>
                    <a:pt x="0" y="1764219"/>
                  </a:lnTo>
                  <a:lnTo>
                    <a:pt x="0" y="0"/>
                  </a:lnTo>
                  <a:close/>
                </a:path>
              </a:pathLst>
            </a:custGeom>
            <a:blipFill>
              <a:blip r:embed="rId5"/>
              <a:stretch>
                <a:fillRect/>
              </a:stretch>
            </a:blipFill>
          </p:spPr>
        </p:sp>
        <p:sp>
          <p:nvSpPr>
            <p:cNvPr id="25" name="TextBox 25"/>
            <p:cNvSpPr txBox="1"/>
            <p:nvPr/>
          </p:nvSpPr>
          <p:spPr>
            <a:xfrm>
              <a:off x="327343" y="2206853"/>
              <a:ext cx="3685125" cy="1387263"/>
            </a:xfrm>
            <a:prstGeom prst="rect">
              <a:avLst/>
            </a:prstGeom>
          </p:spPr>
          <p:txBody>
            <a:bodyPr lIns="0" tIns="0" rIns="0" bIns="0" rtlCol="0" anchor="t">
              <a:spAutoFit/>
            </a:bodyPr>
            <a:lstStyle/>
            <a:p>
              <a:pPr marL="0" lvl="0" indent="0" algn="ctr">
                <a:lnSpc>
                  <a:spcPts val="2895"/>
                </a:lnSpc>
              </a:pPr>
              <a:r>
                <a:rPr lang="en-US" sz="1809">
                  <a:solidFill>
                    <a:srgbClr val="000000"/>
                  </a:solidFill>
                  <a:latin typeface="Open Sauce"/>
                  <a:ea typeface="Open Sauce"/>
                  <a:cs typeface="Open Sauce"/>
                  <a:sym typeface="Open Sauce"/>
                </a:rPr>
                <a:t>Grammar</a:t>
              </a:r>
              <a:r>
                <a:rPr lang="en-US" sz="1809" u="none" strike="noStrike">
                  <a:solidFill>
                    <a:srgbClr val="000000"/>
                  </a:solidFill>
                  <a:latin typeface="Open Sauce"/>
                  <a:ea typeface="Open Sauce"/>
                  <a:cs typeface="Open Sauce"/>
                  <a:sym typeface="Open Sauce"/>
                </a:rPr>
                <a:t> &amp; communication scoring with transformers.</a:t>
              </a:r>
            </a:p>
          </p:txBody>
        </p:sp>
      </p:grpSp>
      <p:grpSp>
        <p:nvGrpSpPr>
          <p:cNvPr id="26" name="Group 26"/>
          <p:cNvGrpSpPr/>
          <p:nvPr/>
        </p:nvGrpSpPr>
        <p:grpSpPr>
          <a:xfrm>
            <a:off x="7338344" y="2604790"/>
            <a:ext cx="3248341" cy="3611509"/>
            <a:chOff x="0" y="0"/>
            <a:chExt cx="4331121" cy="4815346"/>
          </a:xfrm>
        </p:grpSpPr>
        <p:grpSp>
          <p:nvGrpSpPr>
            <p:cNvPr id="27" name="Group 27"/>
            <p:cNvGrpSpPr/>
            <p:nvPr/>
          </p:nvGrpSpPr>
          <p:grpSpPr>
            <a:xfrm>
              <a:off x="0" y="0"/>
              <a:ext cx="4331121" cy="4815346"/>
              <a:chOff x="0" y="0"/>
              <a:chExt cx="4489857" cy="4991829"/>
            </a:xfrm>
          </p:grpSpPr>
          <p:sp>
            <p:nvSpPr>
              <p:cNvPr id="28" name="Freeform 28"/>
              <p:cNvSpPr/>
              <p:nvPr/>
            </p:nvSpPr>
            <p:spPr>
              <a:xfrm>
                <a:off x="0" y="0"/>
                <a:ext cx="4489857" cy="4991829"/>
              </a:xfrm>
              <a:custGeom>
                <a:avLst/>
                <a:gdLst/>
                <a:ahLst/>
                <a:cxnLst/>
                <a:rect l="l" t="t" r="r" b="b"/>
                <a:pathLst>
                  <a:path w="4489857" h="4991829">
                    <a:moveTo>
                      <a:pt x="41033" y="0"/>
                    </a:moveTo>
                    <a:lnTo>
                      <a:pt x="4448824" y="0"/>
                    </a:lnTo>
                    <a:cubicBezTo>
                      <a:pt x="4471486" y="0"/>
                      <a:pt x="4489857" y="18371"/>
                      <a:pt x="4489857" y="41033"/>
                    </a:cubicBezTo>
                    <a:lnTo>
                      <a:pt x="4489857" y="4950796"/>
                    </a:lnTo>
                    <a:cubicBezTo>
                      <a:pt x="4489857" y="4961679"/>
                      <a:pt x="4485534" y="4972115"/>
                      <a:pt x="4477839" y="4979811"/>
                    </a:cubicBezTo>
                    <a:cubicBezTo>
                      <a:pt x="4470144" y="4987506"/>
                      <a:pt x="4459707" y="4991829"/>
                      <a:pt x="4448824" y="4991829"/>
                    </a:cubicBezTo>
                    <a:lnTo>
                      <a:pt x="41033" y="4991829"/>
                    </a:lnTo>
                    <a:cubicBezTo>
                      <a:pt x="30150" y="4991829"/>
                      <a:pt x="19714" y="4987506"/>
                      <a:pt x="12018" y="4979811"/>
                    </a:cubicBezTo>
                    <a:cubicBezTo>
                      <a:pt x="4323" y="4972115"/>
                      <a:pt x="0" y="4961679"/>
                      <a:pt x="0" y="4950796"/>
                    </a:cubicBezTo>
                    <a:lnTo>
                      <a:pt x="0" y="41033"/>
                    </a:lnTo>
                    <a:cubicBezTo>
                      <a:pt x="0" y="30150"/>
                      <a:pt x="4323" y="19714"/>
                      <a:pt x="12018" y="12018"/>
                    </a:cubicBezTo>
                    <a:cubicBezTo>
                      <a:pt x="19714" y="4323"/>
                      <a:pt x="30150" y="0"/>
                      <a:pt x="41033" y="0"/>
                    </a:cubicBezTo>
                    <a:close/>
                  </a:path>
                </a:pathLst>
              </a:custGeom>
              <a:solidFill>
                <a:srgbClr val="FFFFFF">
                  <a:alpha val="49804"/>
                </a:srgbClr>
              </a:solidFill>
              <a:ln w="28575" cap="sq">
                <a:solidFill>
                  <a:srgbClr val="000000">
                    <a:alpha val="49804"/>
                  </a:srgbClr>
                </a:solidFill>
                <a:prstDash val="solid"/>
                <a:miter/>
              </a:ln>
            </p:spPr>
          </p:sp>
          <p:sp>
            <p:nvSpPr>
              <p:cNvPr id="29" name="TextBox 29"/>
              <p:cNvSpPr txBox="1"/>
              <p:nvPr/>
            </p:nvSpPr>
            <p:spPr>
              <a:xfrm>
                <a:off x="0" y="-47625"/>
                <a:ext cx="4489857" cy="5039454"/>
              </a:xfrm>
              <a:prstGeom prst="rect">
                <a:avLst/>
              </a:prstGeom>
            </p:spPr>
            <p:txBody>
              <a:bodyPr lIns="28463" tIns="28463" rIns="28463" bIns="28463" rtlCol="0" anchor="ctr"/>
              <a:lstStyle/>
              <a:p>
                <a:pPr algn="r">
                  <a:lnSpc>
                    <a:spcPts val="3359"/>
                  </a:lnSpc>
                </a:pPr>
                <a:endParaRPr/>
              </a:p>
            </p:txBody>
          </p:sp>
        </p:grpSp>
        <p:sp>
          <p:nvSpPr>
            <p:cNvPr id="30" name="Freeform 30"/>
            <p:cNvSpPr/>
            <p:nvPr/>
          </p:nvSpPr>
          <p:spPr>
            <a:xfrm>
              <a:off x="1097613" y="401342"/>
              <a:ext cx="2135895" cy="1538615"/>
            </a:xfrm>
            <a:custGeom>
              <a:avLst/>
              <a:gdLst/>
              <a:ahLst/>
              <a:cxnLst/>
              <a:rect l="l" t="t" r="r" b="b"/>
              <a:pathLst>
                <a:path w="2135895" h="1538615">
                  <a:moveTo>
                    <a:pt x="0" y="0"/>
                  </a:moveTo>
                  <a:lnTo>
                    <a:pt x="2135895" y="0"/>
                  </a:lnTo>
                  <a:lnTo>
                    <a:pt x="2135895" y="1538615"/>
                  </a:lnTo>
                  <a:lnTo>
                    <a:pt x="0" y="1538615"/>
                  </a:lnTo>
                  <a:lnTo>
                    <a:pt x="0" y="0"/>
                  </a:lnTo>
                  <a:close/>
                </a:path>
              </a:pathLst>
            </a:custGeom>
            <a:blipFill>
              <a:blip r:embed="rId6"/>
              <a:stretch>
                <a:fillRect t="-19686" b="-21060"/>
              </a:stretch>
            </a:blipFill>
          </p:spPr>
        </p:sp>
        <p:sp>
          <p:nvSpPr>
            <p:cNvPr id="31" name="TextBox 31"/>
            <p:cNvSpPr txBox="1"/>
            <p:nvPr/>
          </p:nvSpPr>
          <p:spPr>
            <a:xfrm>
              <a:off x="322998" y="2206853"/>
              <a:ext cx="3685125" cy="1387263"/>
            </a:xfrm>
            <a:prstGeom prst="rect">
              <a:avLst/>
            </a:prstGeom>
          </p:spPr>
          <p:txBody>
            <a:bodyPr lIns="0" tIns="0" rIns="0" bIns="0" rtlCol="0" anchor="t">
              <a:spAutoFit/>
            </a:bodyPr>
            <a:lstStyle/>
            <a:p>
              <a:pPr marL="0" lvl="0" indent="0" algn="ctr">
                <a:lnSpc>
                  <a:spcPts val="2895"/>
                </a:lnSpc>
              </a:pPr>
              <a:r>
                <a:rPr lang="en-US" sz="1809">
                  <a:solidFill>
                    <a:srgbClr val="000000"/>
                  </a:solidFill>
                  <a:latin typeface="Open Sauce"/>
                  <a:ea typeface="Open Sauce"/>
                  <a:cs typeface="Open Sauce"/>
                  <a:sym typeface="Open Sauce"/>
                </a:rPr>
                <a:t>F</a:t>
              </a:r>
              <a:r>
                <a:rPr lang="en-US" sz="1809" u="none" strike="noStrike">
                  <a:solidFill>
                    <a:srgbClr val="000000"/>
                  </a:solidFill>
                  <a:latin typeface="Open Sauce"/>
                  <a:ea typeface="Open Sauce"/>
                  <a:cs typeface="Open Sauce"/>
                  <a:sym typeface="Open Sauce"/>
                </a:rPr>
                <a:t>luency &amp; pronunciation via ASR, phoneme checks, WER/PER.</a:t>
              </a:r>
            </a:p>
          </p:txBody>
        </p:sp>
      </p:grpSp>
      <p:sp>
        <p:nvSpPr>
          <p:cNvPr id="32" name="Freeform 32"/>
          <p:cNvSpPr/>
          <p:nvPr/>
        </p:nvSpPr>
        <p:spPr>
          <a:xfrm>
            <a:off x="8299868" y="6800346"/>
            <a:ext cx="1304221" cy="1432724"/>
          </a:xfrm>
          <a:custGeom>
            <a:avLst/>
            <a:gdLst/>
            <a:ahLst/>
            <a:cxnLst/>
            <a:rect l="l" t="t" r="r" b="b"/>
            <a:pathLst>
              <a:path w="1304221" h="1432724">
                <a:moveTo>
                  <a:pt x="0" y="0"/>
                </a:moveTo>
                <a:lnTo>
                  <a:pt x="1304221" y="0"/>
                </a:lnTo>
                <a:lnTo>
                  <a:pt x="1304221" y="1432724"/>
                </a:lnTo>
                <a:lnTo>
                  <a:pt x="0" y="1432724"/>
                </a:lnTo>
                <a:lnTo>
                  <a:pt x="0" y="0"/>
                </a:lnTo>
                <a:close/>
              </a:path>
            </a:pathLst>
          </a:custGeom>
          <a:blipFill>
            <a:blip r:embed="rId7"/>
            <a:stretch>
              <a:fillRect l="-9693" r="-11309"/>
            </a:stretch>
          </a:blipFill>
        </p:spPr>
      </p:sp>
      <p:sp>
        <p:nvSpPr>
          <p:cNvPr id="33" name="Freeform 33"/>
          <p:cNvSpPr/>
          <p:nvPr/>
        </p:nvSpPr>
        <p:spPr>
          <a:xfrm>
            <a:off x="14875307" y="6800346"/>
            <a:ext cx="974214" cy="1263720"/>
          </a:xfrm>
          <a:custGeom>
            <a:avLst/>
            <a:gdLst/>
            <a:ahLst/>
            <a:cxnLst/>
            <a:rect l="l" t="t" r="r" b="b"/>
            <a:pathLst>
              <a:path w="974214" h="1263720">
                <a:moveTo>
                  <a:pt x="0" y="0"/>
                </a:moveTo>
                <a:lnTo>
                  <a:pt x="974214" y="0"/>
                </a:lnTo>
                <a:lnTo>
                  <a:pt x="974214" y="1263721"/>
                </a:lnTo>
                <a:lnTo>
                  <a:pt x="0" y="12637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34" name="TextBox 34"/>
          <p:cNvSpPr txBox="1"/>
          <p:nvPr/>
        </p:nvSpPr>
        <p:spPr>
          <a:xfrm>
            <a:off x="7580592" y="8255359"/>
            <a:ext cx="2763844" cy="1417903"/>
          </a:xfrm>
          <a:prstGeom prst="rect">
            <a:avLst/>
          </a:prstGeom>
        </p:spPr>
        <p:txBody>
          <a:bodyPr lIns="0" tIns="0" rIns="0" bIns="0" rtlCol="0" anchor="t">
            <a:spAutoFit/>
          </a:bodyPr>
          <a:lstStyle/>
          <a:p>
            <a:pPr marL="0" lvl="0" indent="0" algn="ctr">
              <a:lnSpc>
                <a:spcPts val="2895"/>
              </a:lnSpc>
            </a:pPr>
            <a:r>
              <a:rPr lang="en-US" sz="1809">
                <a:solidFill>
                  <a:srgbClr val="000000"/>
                </a:solidFill>
                <a:latin typeface="Open Sauce"/>
                <a:ea typeface="Open Sauce"/>
                <a:cs typeface="Open Sauce"/>
                <a:sym typeface="Open Sauce"/>
              </a:rPr>
              <a:t>Adm</a:t>
            </a:r>
            <a:r>
              <a:rPr lang="en-US" sz="1809" u="none" strike="noStrike">
                <a:solidFill>
                  <a:srgbClr val="000000"/>
                </a:solidFill>
                <a:latin typeface="Open Sauce"/>
                <a:ea typeface="Open Sauce"/>
                <a:cs typeface="Open Sauce"/>
                <a:sym typeface="Open Sauce"/>
              </a:rPr>
              <a:t>in-controlled proctoring: </a:t>
            </a:r>
          </a:p>
          <a:p>
            <a:pPr marL="0" lvl="0" indent="0" algn="ctr">
              <a:lnSpc>
                <a:spcPts val="2895"/>
              </a:lnSpc>
            </a:pPr>
            <a:r>
              <a:rPr lang="en-US" sz="1809" u="none" strike="noStrike">
                <a:solidFill>
                  <a:srgbClr val="000000"/>
                </a:solidFill>
                <a:latin typeface="Open Sauce"/>
                <a:ea typeface="Open Sauce"/>
                <a:cs typeface="Open Sauce"/>
                <a:sym typeface="Open Sauce"/>
              </a:rPr>
              <a:t>Light / Strict / Off.</a:t>
            </a:r>
          </a:p>
          <a:p>
            <a:pPr marL="0" lvl="0" indent="0" algn="ctr">
              <a:lnSpc>
                <a:spcPts val="2895"/>
              </a:lnSpc>
            </a:pPr>
            <a:endParaRPr lang="en-US" sz="1809" u="none" strike="noStrike">
              <a:solidFill>
                <a:srgbClr val="000000"/>
              </a:solidFill>
              <a:latin typeface="Open Sauce"/>
              <a:ea typeface="Open Sauce"/>
              <a:cs typeface="Open Sauce"/>
              <a:sym typeface="Open Sauce"/>
            </a:endParaRPr>
          </a:p>
        </p:txBody>
      </p:sp>
      <p:sp>
        <p:nvSpPr>
          <p:cNvPr id="35" name="TextBox 35"/>
          <p:cNvSpPr txBox="1"/>
          <p:nvPr/>
        </p:nvSpPr>
        <p:spPr>
          <a:xfrm>
            <a:off x="14045144" y="8175920"/>
            <a:ext cx="2634541" cy="1008064"/>
          </a:xfrm>
          <a:prstGeom prst="rect">
            <a:avLst/>
          </a:prstGeom>
        </p:spPr>
        <p:txBody>
          <a:bodyPr lIns="0" tIns="0" rIns="0" bIns="0" rtlCol="0" anchor="t">
            <a:spAutoFit/>
          </a:bodyPr>
          <a:lstStyle/>
          <a:p>
            <a:pPr marL="0" lvl="0" indent="0" algn="ctr">
              <a:lnSpc>
                <a:spcPts val="2759"/>
              </a:lnSpc>
            </a:pPr>
            <a:r>
              <a:rPr lang="en-US" sz="1724">
                <a:solidFill>
                  <a:srgbClr val="000000"/>
                </a:solidFill>
                <a:latin typeface="Open Sauce"/>
                <a:ea typeface="Open Sauce"/>
                <a:cs typeface="Open Sauce"/>
                <a:sym typeface="Open Sauce"/>
              </a:rPr>
              <a:t>E</a:t>
            </a:r>
            <a:r>
              <a:rPr lang="en-US" sz="1724" u="none" strike="noStrike">
                <a:solidFill>
                  <a:srgbClr val="000000"/>
                </a:solidFill>
                <a:latin typeface="Open Sauce"/>
                <a:ea typeface="Open Sauce"/>
                <a:cs typeface="Open Sauce"/>
                <a:sym typeface="Open Sauce"/>
              </a:rPr>
              <a:t>xportable Reports (PDF/Word) with candidate insights.</a:t>
            </a:r>
          </a:p>
        </p:txBody>
      </p:sp>
      <p:sp>
        <p:nvSpPr>
          <p:cNvPr id="36" name="TextBox 36"/>
          <p:cNvSpPr txBox="1"/>
          <p:nvPr/>
        </p:nvSpPr>
        <p:spPr>
          <a:xfrm>
            <a:off x="1408647" y="8255359"/>
            <a:ext cx="2763844" cy="1054735"/>
          </a:xfrm>
          <a:prstGeom prst="rect">
            <a:avLst/>
          </a:prstGeom>
        </p:spPr>
        <p:txBody>
          <a:bodyPr lIns="0" tIns="0" rIns="0" bIns="0" rtlCol="0" anchor="t">
            <a:spAutoFit/>
          </a:bodyPr>
          <a:lstStyle/>
          <a:p>
            <a:pPr marL="0" lvl="0" indent="0" algn="ctr">
              <a:lnSpc>
                <a:spcPts val="2895"/>
              </a:lnSpc>
            </a:pPr>
            <a:r>
              <a:rPr lang="en-US" sz="1809">
                <a:solidFill>
                  <a:srgbClr val="000000"/>
                </a:solidFill>
                <a:latin typeface="Open Sauce"/>
                <a:ea typeface="Open Sauce"/>
                <a:cs typeface="Open Sauce"/>
                <a:sym typeface="Open Sauce"/>
              </a:rPr>
              <a:t>MCQ</a:t>
            </a:r>
            <a:r>
              <a:rPr lang="en-US" sz="1809" u="none" strike="noStrike">
                <a:solidFill>
                  <a:srgbClr val="000000"/>
                </a:solidFill>
                <a:latin typeface="Open Sauce"/>
                <a:ea typeface="Open Sauce"/>
                <a:cs typeface="Open Sauce"/>
                <a:sym typeface="Open Sauce"/>
              </a:rPr>
              <a:t> error analysis with weakness review in practice mode.</a:t>
            </a:r>
          </a:p>
        </p:txBody>
      </p:sp>
      <p:sp>
        <p:nvSpPr>
          <p:cNvPr id="37" name="TextBox 37"/>
          <p:cNvSpPr txBox="1"/>
          <p:nvPr/>
        </p:nvSpPr>
        <p:spPr>
          <a:xfrm>
            <a:off x="1166399" y="1119525"/>
            <a:ext cx="3248341"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Features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a:ln cap="sq">
            <a:noFill/>
            <a:prstDash val="solid"/>
            <a:miter/>
          </a:ln>
        </p:spPr>
      </p:sp>
      <p:sp>
        <p:nvSpPr>
          <p:cNvPr id="3" name="AutoShape 3"/>
          <p:cNvSpPr/>
          <p:nvPr/>
        </p:nvSpPr>
        <p:spPr>
          <a:xfrm>
            <a:off x="1166399" y="1028700"/>
            <a:ext cx="687324" cy="0"/>
          </a:xfrm>
          <a:prstGeom prst="line">
            <a:avLst/>
          </a:prstGeom>
          <a:ln w="76200" cap="flat">
            <a:solidFill>
              <a:srgbClr val="000000"/>
            </a:solidFill>
            <a:prstDash val="solid"/>
            <a:headEnd type="none" w="sm" len="sm"/>
            <a:tailEnd type="none" w="sm" len="sm"/>
          </a:ln>
        </p:spPr>
      </p:sp>
      <p:sp>
        <p:nvSpPr>
          <p:cNvPr id="4" name="TextBox 4"/>
          <p:cNvSpPr txBox="1"/>
          <p:nvPr/>
        </p:nvSpPr>
        <p:spPr>
          <a:xfrm>
            <a:off x="1166399" y="1081907"/>
            <a:ext cx="4952833" cy="1085215"/>
          </a:xfrm>
          <a:prstGeom prst="rect">
            <a:avLst/>
          </a:prstGeom>
        </p:spPr>
        <p:txBody>
          <a:bodyPr lIns="0" tIns="0" rIns="0" bIns="0" rtlCol="0" anchor="t">
            <a:spAutoFit/>
          </a:bodyPr>
          <a:lstStyle/>
          <a:p>
            <a:pPr algn="l">
              <a:lnSpc>
                <a:spcPts val="8959"/>
              </a:lnSpc>
            </a:pPr>
            <a:r>
              <a:rPr lang="en-US" sz="6399">
                <a:solidFill>
                  <a:srgbClr val="000000"/>
                </a:solidFill>
                <a:latin typeface="DM Serif Display"/>
                <a:ea typeface="DM Serif Display"/>
                <a:cs typeface="DM Serif Display"/>
                <a:sym typeface="DM Serif Display"/>
              </a:rPr>
              <a:t>Architecture</a:t>
            </a:r>
          </a:p>
        </p:txBody>
      </p:sp>
      <p:sp>
        <p:nvSpPr>
          <p:cNvPr id="14" name="Rectangle: Rounded Corners 13">
            <a:extLst>
              <a:ext uri="{FF2B5EF4-FFF2-40B4-BE49-F238E27FC236}">
                <a16:creationId xmlns:a16="http://schemas.microsoft.com/office/drawing/2014/main" id="{01224A99-34C4-6A56-EF32-C8361BAF7E1B}"/>
              </a:ext>
            </a:extLst>
          </p:cNvPr>
          <p:cNvSpPr/>
          <p:nvPr/>
        </p:nvSpPr>
        <p:spPr>
          <a:xfrm>
            <a:off x="1510061" y="2781300"/>
            <a:ext cx="2604739" cy="1219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dirty="0"/>
              <a:t>Candidate Profile in User Interface</a:t>
            </a:r>
          </a:p>
        </p:txBody>
      </p:sp>
      <p:sp>
        <p:nvSpPr>
          <p:cNvPr id="15" name="Rectangle: Rounded Corners 14">
            <a:extLst>
              <a:ext uri="{FF2B5EF4-FFF2-40B4-BE49-F238E27FC236}">
                <a16:creationId xmlns:a16="http://schemas.microsoft.com/office/drawing/2014/main" id="{C29D3950-6F56-4F90-B1A6-F216830756CA}"/>
              </a:ext>
            </a:extLst>
          </p:cNvPr>
          <p:cNvSpPr/>
          <p:nvPr/>
        </p:nvSpPr>
        <p:spPr>
          <a:xfrm>
            <a:off x="5163014" y="2781300"/>
            <a:ext cx="2604739" cy="12192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dirty="0"/>
              <a:t>Choosing Topic from the various courses</a:t>
            </a:r>
          </a:p>
        </p:txBody>
      </p:sp>
      <p:sp>
        <p:nvSpPr>
          <p:cNvPr id="17" name="Rectangle: Rounded Corners 16">
            <a:extLst>
              <a:ext uri="{FF2B5EF4-FFF2-40B4-BE49-F238E27FC236}">
                <a16:creationId xmlns:a16="http://schemas.microsoft.com/office/drawing/2014/main" id="{6074D46C-2B4C-355B-8D4F-7A03105C19F5}"/>
              </a:ext>
            </a:extLst>
          </p:cNvPr>
          <p:cNvSpPr/>
          <p:nvPr/>
        </p:nvSpPr>
        <p:spPr>
          <a:xfrm>
            <a:off x="6781800" y="4766206"/>
            <a:ext cx="1971907" cy="97099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AI Mock Monitoring</a:t>
            </a:r>
          </a:p>
        </p:txBody>
      </p:sp>
      <p:sp>
        <p:nvSpPr>
          <p:cNvPr id="18" name="Rectangle: Rounded Corners 17">
            <a:extLst>
              <a:ext uri="{FF2B5EF4-FFF2-40B4-BE49-F238E27FC236}">
                <a16:creationId xmlns:a16="http://schemas.microsoft.com/office/drawing/2014/main" id="{6BFC1618-B700-C682-F83D-C54C154C1E8D}"/>
              </a:ext>
            </a:extLst>
          </p:cNvPr>
          <p:cNvSpPr/>
          <p:nvPr/>
        </p:nvSpPr>
        <p:spPr>
          <a:xfrm>
            <a:off x="2558275" y="6015545"/>
            <a:ext cx="2604739" cy="1219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Speech and Text Module</a:t>
            </a:r>
          </a:p>
        </p:txBody>
      </p:sp>
      <p:sp>
        <p:nvSpPr>
          <p:cNvPr id="20" name="Rectangle: Rounded Corners 19">
            <a:extLst>
              <a:ext uri="{FF2B5EF4-FFF2-40B4-BE49-F238E27FC236}">
                <a16:creationId xmlns:a16="http://schemas.microsoft.com/office/drawing/2014/main" id="{57121483-3585-E985-C35E-16A773CEE1CC}"/>
              </a:ext>
            </a:extLst>
          </p:cNvPr>
          <p:cNvSpPr/>
          <p:nvPr/>
        </p:nvSpPr>
        <p:spPr>
          <a:xfrm>
            <a:off x="5673879" y="7656980"/>
            <a:ext cx="4187748" cy="200507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200" dirty="0"/>
              <a:t>AI Model Evaluation (Analyzing Answers, Speech and Code Evaluation)</a:t>
            </a:r>
          </a:p>
        </p:txBody>
      </p:sp>
      <p:sp>
        <p:nvSpPr>
          <p:cNvPr id="21" name="Rectangle: Rounded Corners 20">
            <a:extLst>
              <a:ext uri="{FF2B5EF4-FFF2-40B4-BE49-F238E27FC236}">
                <a16:creationId xmlns:a16="http://schemas.microsoft.com/office/drawing/2014/main" id="{C8260209-FB8F-0364-620F-5634BDB15198}"/>
              </a:ext>
            </a:extLst>
          </p:cNvPr>
          <p:cNvSpPr/>
          <p:nvPr/>
        </p:nvSpPr>
        <p:spPr>
          <a:xfrm>
            <a:off x="13156442" y="7656980"/>
            <a:ext cx="4187748" cy="2005076"/>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200" dirty="0"/>
              <a:t>Scoring &amp; Feedback (Final Score, Detailed Insights and Recommendations)</a:t>
            </a:r>
          </a:p>
        </p:txBody>
      </p:sp>
      <p:sp>
        <p:nvSpPr>
          <p:cNvPr id="22" name="Rectangle: Rounded Corners 21">
            <a:extLst>
              <a:ext uri="{FF2B5EF4-FFF2-40B4-BE49-F238E27FC236}">
                <a16:creationId xmlns:a16="http://schemas.microsoft.com/office/drawing/2014/main" id="{3DA06AA2-5972-9133-34A6-2108CC70A91D}"/>
              </a:ext>
            </a:extLst>
          </p:cNvPr>
          <p:cNvSpPr/>
          <p:nvPr/>
        </p:nvSpPr>
        <p:spPr>
          <a:xfrm>
            <a:off x="10551703" y="6015545"/>
            <a:ext cx="2604739" cy="12192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NLP Preprocessing Module</a:t>
            </a:r>
          </a:p>
        </p:txBody>
      </p:sp>
      <p:sp>
        <p:nvSpPr>
          <p:cNvPr id="23" name="Oval 22">
            <a:extLst>
              <a:ext uri="{FF2B5EF4-FFF2-40B4-BE49-F238E27FC236}">
                <a16:creationId xmlns:a16="http://schemas.microsoft.com/office/drawing/2014/main" id="{D80F6F19-E453-7FDA-7BF4-BDB6C7601B46}"/>
              </a:ext>
            </a:extLst>
          </p:cNvPr>
          <p:cNvSpPr/>
          <p:nvPr/>
        </p:nvSpPr>
        <p:spPr>
          <a:xfrm>
            <a:off x="6700953" y="5985406"/>
            <a:ext cx="2133600" cy="1219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AI Engine</a:t>
            </a:r>
          </a:p>
        </p:txBody>
      </p:sp>
      <p:cxnSp>
        <p:nvCxnSpPr>
          <p:cNvPr id="25" name="Straight Arrow Connector 24">
            <a:extLst>
              <a:ext uri="{FF2B5EF4-FFF2-40B4-BE49-F238E27FC236}">
                <a16:creationId xmlns:a16="http://schemas.microsoft.com/office/drawing/2014/main" id="{6737FFF3-D409-F82B-1D84-277BA31EAA8B}"/>
              </a:ext>
            </a:extLst>
          </p:cNvPr>
          <p:cNvCxnSpPr>
            <a:stCxn id="14" idx="3"/>
          </p:cNvCxnSpPr>
          <p:nvPr/>
        </p:nvCxnSpPr>
        <p:spPr>
          <a:xfrm>
            <a:off x="4114800" y="3390900"/>
            <a:ext cx="104821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52B49D38-AC87-2500-A0B3-CFCAF369A806}"/>
              </a:ext>
            </a:extLst>
          </p:cNvPr>
          <p:cNvCxnSpPr/>
          <p:nvPr/>
        </p:nvCxnSpPr>
        <p:spPr>
          <a:xfrm>
            <a:off x="7467600" y="4000500"/>
            <a:ext cx="0" cy="7657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7F196B4-8011-5740-7DEC-14B8DA2CAA50}"/>
              </a:ext>
            </a:extLst>
          </p:cNvPr>
          <p:cNvCxnSpPr>
            <a:stCxn id="17" idx="2"/>
            <a:endCxn id="23" idx="0"/>
          </p:cNvCxnSpPr>
          <p:nvPr/>
        </p:nvCxnSpPr>
        <p:spPr>
          <a:xfrm flipH="1">
            <a:off x="7767753" y="5737196"/>
            <a:ext cx="1" cy="2482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3EFD50A7-D540-1FF3-A6F9-D3C99C5CBEB5}"/>
              </a:ext>
            </a:extLst>
          </p:cNvPr>
          <p:cNvCxnSpPr>
            <a:cxnSpLocks/>
            <a:stCxn id="18" idx="3"/>
          </p:cNvCxnSpPr>
          <p:nvPr/>
        </p:nvCxnSpPr>
        <p:spPr>
          <a:xfrm flipV="1">
            <a:off x="5163014" y="6625144"/>
            <a:ext cx="1537939"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D1C19992-1ACB-8872-79AA-0F529B7B3EC2}"/>
              </a:ext>
            </a:extLst>
          </p:cNvPr>
          <p:cNvCxnSpPr>
            <a:cxnSpLocks/>
            <a:stCxn id="22" idx="1"/>
          </p:cNvCxnSpPr>
          <p:nvPr/>
        </p:nvCxnSpPr>
        <p:spPr>
          <a:xfrm flipH="1" flipV="1">
            <a:off x="8834553" y="6625144"/>
            <a:ext cx="171715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E785B09B-50F4-D7EB-C86D-B10F15010B92}"/>
              </a:ext>
            </a:extLst>
          </p:cNvPr>
          <p:cNvCxnSpPr>
            <a:endCxn id="20" idx="0"/>
          </p:cNvCxnSpPr>
          <p:nvPr/>
        </p:nvCxnSpPr>
        <p:spPr>
          <a:xfrm>
            <a:off x="7767753" y="7234745"/>
            <a:ext cx="0" cy="422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E71243C0-9ED6-D86C-6663-80BF87A7C7A7}"/>
              </a:ext>
            </a:extLst>
          </p:cNvPr>
          <p:cNvCxnSpPr>
            <a:stCxn id="20" idx="3"/>
            <a:endCxn id="21" idx="1"/>
          </p:cNvCxnSpPr>
          <p:nvPr/>
        </p:nvCxnSpPr>
        <p:spPr>
          <a:xfrm>
            <a:off x="9861627" y="8659518"/>
            <a:ext cx="329481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50000"/>
            </a:blip>
            <a:stretch>
              <a:fillRect/>
            </a:stretch>
          </a:blipFill>
        </p:spPr>
      </p:sp>
      <p:sp>
        <p:nvSpPr>
          <p:cNvPr id="3" name="TextBox 3"/>
          <p:cNvSpPr txBox="1"/>
          <p:nvPr/>
        </p:nvSpPr>
        <p:spPr>
          <a:xfrm>
            <a:off x="4485814" y="3497580"/>
            <a:ext cx="9316373" cy="2739390"/>
          </a:xfrm>
          <a:prstGeom prst="rect">
            <a:avLst/>
          </a:prstGeom>
        </p:spPr>
        <p:txBody>
          <a:bodyPr lIns="0" tIns="0" rIns="0" bIns="0" rtlCol="0" anchor="t">
            <a:spAutoFit/>
          </a:bodyPr>
          <a:lstStyle/>
          <a:p>
            <a:pPr algn="ctr">
              <a:lnSpc>
                <a:spcPts val="20160"/>
              </a:lnSpc>
            </a:pPr>
            <a:r>
              <a:rPr lang="en-US" sz="14400">
                <a:solidFill>
                  <a:srgbClr val="000000"/>
                </a:solidFill>
                <a:latin typeface="Times New Roman"/>
                <a:ea typeface="Times New Roman"/>
                <a:cs typeface="Times New Roman"/>
                <a:sym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990</Words>
  <Application>Microsoft Office PowerPoint</Application>
  <PresentationFormat>Custom</PresentationFormat>
  <Paragraphs>136</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DM Serif Display</vt:lpstr>
      <vt:lpstr>Times New Roman Bold</vt:lpstr>
      <vt:lpstr>Arial</vt:lpstr>
      <vt:lpstr>Open Sauce Bold</vt:lpstr>
      <vt:lpstr>Times New Roman</vt:lpstr>
      <vt:lpstr>Open Sauce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review</dc:title>
  <cp:lastModifiedBy>MOHAN SAI DINESH</cp:lastModifiedBy>
  <cp:revision>9</cp:revision>
  <dcterms:created xsi:type="dcterms:W3CDTF">2006-08-16T00:00:00Z</dcterms:created>
  <dcterms:modified xsi:type="dcterms:W3CDTF">2025-10-31T10:58:29Z</dcterms:modified>
  <dc:identifier>DAGzOBmDvuQ</dc:identifier>
</cp:coreProperties>
</file>